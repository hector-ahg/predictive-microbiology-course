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6" r:id="rId3"/>
    <p:sldId id="275" r:id="rId4"/>
    <p:sldId id="263" r:id="rId5"/>
    <p:sldId id="264" r:id="rId6"/>
    <p:sldId id="266" r:id="rId7"/>
    <p:sldId id="262" r:id="rId8"/>
    <p:sldId id="265" r:id="rId9"/>
    <p:sldId id="271" r:id="rId10"/>
    <p:sldId id="260" r:id="rId11"/>
    <p:sldId id="277" r:id="rId12"/>
    <p:sldId id="268" r:id="rId13"/>
    <p:sldId id="281" r:id="rId14"/>
    <p:sldId id="258" r:id="rId15"/>
    <p:sldId id="282" r:id="rId16"/>
    <p:sldId id="283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81009-77DE-C44F-8993-8EBB45F4C438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D6AF8-6692-E94A-8592-67F018BC1A8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975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Plataforma = sistema que permite ejecutar programas o aplicaciones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AFF2-1E9F-184B-945A-4122C23422C6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20812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Los métodos, visualizaciones se definen como una combinación de parámetros e inputs que generar un archivo de salida</a:t>
            </a:r>
          </a:p>
          <a:p>
            <a:endParaRPr lang="es-ES_tradnl" dirty="0"/>
          </a:p>
          <a:p>
            <a:r>
              <a:rPr lang="es-ES_tradnl" dirty="0"/>
              <a:t>Los pipelines se refieren a una estrategia para correr múltiples métodos en un mismo comando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AFF2-1E9F-184B-945A-4122C23422C6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8310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Divisive </a:t>
            </a:r>
            <a:r>
              <a:rPr lang="es-ES_tradnl" dirty="0" err="1"/>
              <a:t>amplicon</a:t>
            </a:r>
            <a:r>
              <a:rPr lang="es-ES_tradnl" dirty="0"/>
              <a:t> </a:t>
            </a:r>
            <a:r>
              <a:rPr lang="es-ES_tradnl" dirty="0" err="1"/>
              <a:t>denoising</a:t>
            </a:r>
            <a:r>
              <a:rPr lang="es-ES_tradnl" dirty="0"/>
              <a:t> </a:t>
            </a:r>
            <a:r>
              <a:rPr lang="es-ES_tradnl" dirty="0" err="1"/>
              <a:t>algorithm</a:t>
            </a:r>
            <a:endParaRPr lang="es-ES_tradnl" dirty="0"/>
          </a:p>
          <a:p>
            <a:endParaRPr lang="es-ES_tradnl" dirty="0"/>
          </a:p>
          <a:p>
            <a:r>
              <a:rPr lang="es-ES_tradnl" dirty="0"/>
              <a:t>Filtrado de calidad remueve bases con bajos valores de </a:t>
            </a:r>
            <a:r>
              <a:rPr lang="es-ES_tradnl" dirty="0" err="1"/>
              <a:t>Phred</a:t>
            </a:r>
            <a:r>
              <a:rPr lang="es-ES_tradnl" dirty="0"/>
              <a:t> y corta y trunca los </a:t>
            </a:r>
            <a:r>
              <a:rPr lang="es-ES_tradnl" dirty="0" err="1"/>
              <a:t>reads</a:t>
            </a:r>
            <a:r>
              <a:rPr lang="es-ES_tradnl" dirty="0"/>
              <a:t> a una longitud especifica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5AFF2-1E9F-184B-945A-4122C23422C6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550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La clasificación taxonómica consiste en asignarle identidad a una secuencia de nucleótidos a partir de la similitud con secuencias en una base de datos</a:t>
            </a:r>
          </a:p>
          <a:p>
            <a:r>
              <a:rPr lang="es-ES_tradnl" dirty="0"/>
              <a:t>En este ejemplo vamos a usar una base de datos del gen 16s </a:t>
            </a:r>
            <a:r>
              <a:rPr lang="es-ES_tradnl" dirty="0" err="1"/>
              <a:t>rRNA</a:t>
            </a:r>
            <a:endParaRPr lang="es-ES_tradnl" dirty="0"/>
          </a:p>
          <a:p>
            <a:endParaRPr lang="es-ES_tradnl" dirty="0"/>
          </a:p>
          <a:p>
            <a:r>
              <a:rPr lang="es-ES_tradnl" dirty="0"/>
              <a:t>Se alinean secuencias contra una base de datos y el match con el valor más alto es asignado como la identidad taxonómica</a:t>
            </a:r>
          </a:p>
          <a:p>
            <a:endParaRPr lang="es-ES_tradnl" dirty="0"/>
          </a:p>
          <a:p>
            <a:r>
              <a:rPr lang="es-ES_tradnl" dirty="0"/>
              <a:t>Los modelos basados en machine </a:t>
            </a:r>
            <a:r>
              <a:rPr lang="es-ES_tradnl" dirty="0" err="1"/>
              <a:t>learning</a:t>
            </a:r>
            <a:r>
              <a:rPr lang="es-ES_tradnl" dirty="0"/>
              <a:t> se basan en la idea de que los perfiles de k-meros y sus abundancias son específicos para cada </a:t>
            </a:r>
            <a:r>
              <a:rPr lang="es-ES_tradnl" dirty="0" err="1"/>
              <a:t>taxa</a:t>
            </a:r>
            <a:r>
              <a:rPr lang="es-ES_tradnl" dirty="0"/>
              <a:t> microbiano</a:t>
            </a:r>
          </a:p>
          <a:p>
            <a:endParaRPr lang="es-ES_tradnl" dirty="0"/>
          </a:p>
          <a:p>
            <a:r>
              <a:rPr lang="es-ES_tradnl" dirty="0"/>
              <a:t>El primer paso para empelar estos clasificadores </a:t>
            </a:r>
            <a:r>
              <a:rPr lang="es-ES_tradnl" dirty="0" err="1"/>
              <a:t>probabilisticos</a:t>
            </a:r>
            <a:r>
              <a:rPr lang="es-ES_tradnl" dirty="0"/>
              <a:t> es generar un modelo de referencia.</a:t>
            </a:r>
          </a:p>
          <a:p>
            <a:r>
              <a:rPr lang="es-ES_tradnl" dirty="0"/>
              <a:t>El modelo de referencia consiste en recuperar el perfil de k-meros de cada uno de los </a:t>
            </a:r>
            <a:r>
              <a:rPr lang="es-ES_tradnl" dirty="0" err="1"/>
              <a:t>taxa</a:t>
            </a:r>
            <a:r>
              <a:rPr lang="es-ES_tradnl" dirty="0"/>
              <a:t> en una base de datos, además de recuperar una </a:t>
            </a:r>
            <a:r>
              <a:rPr lang="es-ES_tradnl" dirty="0" err="1"/>
              <a:t>probalidad</a:t>
            </a:r>
            <a:r>
              <a:rPr lang="es-ES_tradnl" dirty="0"/>
              <a:t> a priori para cada </a:t>
            </a:r>
            <a:r>
              <a:rPr lang="es-ES_tradnl" dirty="0" err="1"/>
              <a:t>taxa</a:t>
            </a:r>
            <a:r>
              <a:rPr lang="es-ES_tradnl" dirty="0"/>
              <a:t>, eso se traduce como la </a:t>
            </a:r>
            <a:r>
              <a:rPr lang="es-ES_tradnl" dirty="0" err="1"/>
              <a:t>probalidad</a:t>
            </a:r>
            <a:r>
              <a:rPr lang="es-ES_tradnl" dirty="0"/>
              <a:t> de que una secuencia en la base de datos </a:t>
            </a:r>
            <a:r>
              <a:rPr lang="es-ES_tradnl" dirty="0" err="1"/>
              <a:t>pertenzca</a:t>
            </a:r>
            <a:r>
              <a:rPr lang="es-ES_tradnl" dirty="0"/>
              <a:t> a un </a:t>
            </a:r>
            <a:r>
              <a:rPr lang="es-ES_tradnl" dirty="0" err="1"/>
              <a:t>taxa</a:t>
            </a:r>
            <a:r>
              <a:rPr lang="es-ES_tradnl" dirty="0"/>
              <a:t> especifico.</a:t>
            </a:r>
          </a:p>
          <a:p>
            <a:endParaRPr lang="es-ES_tradnl" dirty="0"/>
          </a:p>
          <a:p>
            <a:r>
              <a:rPr lang="es-ES_tradnl" dirty="0"/>
              <a:t>Imaginemos que </a:t>
            </a:r>
            <a:r>
              <a:rPr lang="es-ES_tradnl" dirty="0" err="1"/>
              <a:t>nuesta</a:t>
            </a:r>
            <a:r>
              <a:rPr lang="es-ES_tradnl" dirty="0"/>
              <a:t> base de datos tiene 10 secuencias y 6 de ellas pertenecen a </a:t>
            </a:r>
            <a:r>
              <a:rPr lang="es-ES_tradnl" dirty="0" err="1"/>
              <a:t>Bacillus</a:t>
            </a:r>
            <a:r>
              <a:rPr lang="es-ES_tradnl" dirty="0"/>
              <a:t> y 4 de ellas a </a:t>
            </a:r>
            <a:r>
              <a:rPr lang="es-ES_tradnl" dirty="0" err="1"/>
              <a:t>Geobacillus</a:t>
            </a:r>
            <a:r>
              <a:rPr lang="es-ES_tradnl" dirty="0"/>
              <a:t>, </a:t>
            </a:r>
            <a:r>
              <a:rPr lang="es-ES_tradnl" dirty="0" err="1"/>
              <a:t>entonce</a:t>
            </a:r>
            <a:r>
              <a:rPr lang="es-ES_tradnl" dirty="0"/>
              <a:t> el priori seria de 0.6 y 0.4 respectivamente. El perfil de k-meros corresponde a la frecuencia con la que encontramos cierto k-</a:t>
            </a:r>
            <a:r>
              <a:rPr lang="es-ES_tradnl" dirty="0" err="1"/>
              <a:t>emro</a:t>
            </a:r>
            <a:r>
              <a:rPr lang="es-ES_tradnl" dirty="0"/>
              <a:t> en la secuencia de cada uno de los </a:t>
            </a:r>
            <a:r>
              <a:rPr lang="es-ES_tradnl" dirty="0" err="1"/>
              <a:t>taxa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r>
              <a:rPr lang="es-ES_tradnl" dirty="0"/>
              <a:t>A partir de aquí nos podemos </a:t>
            </a:r>
            <a:r>
              <a:rPr lang="es-ES_tradnl" dirty="0" err="1"/>
              <a:t>pregutnar</a:t>
            </a:r>
            <a:r>
              <a:rPr lang="es-ES_tradnl" dirty="0"/>
              <a:t> cual es la probabilidad de encontrar un </a:t>
            </a:r>
            <a:r>
              <a:rPr lang="es-ES_tradnl" dirty="0" err="1"/>
              <a:t>taxa</a:t>
            </a:r>
            <a:r>
              <a:rPr lang="es-ES_tradnl" dirty="0"/>
              <a:t> en </a:t>
            </a:r>
            <a:r>
              <a:rPr lang="es-ES_tradnl" dirty="0" err="1"/>
              <a:t>nuesta</a:t>
            </a:r>
            <a:r>
              <a:rPr lang="es-ES_tradnl" dirty="0"/>
              <a:t> base de datos (modelo de referencia) a partir de una secuencia especifica o </a:t>
            </a:r>
            <a:r>
              <a:rPr lang="es-ES_tradnl" dirty="0" err="1"/>
              <a:t>querry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r>
              <a:rPr lang="es-ES_tradnl" dirty="0"/>
              <a:t>Para evaluar esto se aplica un modelo bayesiano, que de manera simplificada se traduce a multiplicar el priori y las frecuencias de cada </a:t>
            </a:r>
            <a:r>
              <a:rPr lang="es-ES_tradnl" dirty="0" err="1"/>
              <a:t>taxa</a:t>
            </a:r>
            <a:r>
              <a:rPr lang="es-ES_tradnl" dirty="0"/>
              <a:t> en el modelo de </a:t>
            </a:r>
            <a:r>
              <a:rPr lang="es-ES_tradnl" dirty="0" err="1"/>
              <a:t>referenica</a:t>
            </a:r>
            <a:r>
              <a:rPr lang="es-ES_tradnl" dirty="0"/>
              <a:t>, tomando el cuenta </a:t>
            </a:r>
            <a:r>
              <a:rPr lang="es-ES_tradnl" dirty="0" err="1"/>
              <a:t>laidentidad</a:t>
            </a:r>
            <a:r>
              <a:rPr lang="es-ES_tradnl" dirty="0"/>
              <a:t> y la </a:t>
            </a:r>
            <a:r>
              <a:rPr lang="es-ES_tradnl" dirty="0" err="1"/>
              <a:t>abudnaica</a:t>
            </a:r>
            <a:r>
              <a:rPr lang="es-ES_tradnl" dirty="0"/>
              <a:t> de los k-meros en cada una de las secuencias </a:t>
            </a:r>
            <a:r>
              <a:rPr lang="es-ES_tradnl" dirty="0" err="1"/>
              <a:t>querry</a:t>
            </a:r>
            <a:r>
              <a:rPr lang="es-ES_tradnl" dirty="0"/>
              <a:t>.</a:t>
            </a:r>
          </a:p>
          <a:p>
            <a:r>
              <a:rPr lang="es-ES_tradnl" dirty="0"/>
              <a:t>Si se dan cuenta en este caso la </a:t>
            </a:r>
            <a:r>
              <a:rPr lang="es-ES_tradnl" dirty="0" err="1"/>
              <a:t>abudncia</a:t>
            </a:r>
            <a:r>
              <a:rPr lang="es-ES_tradnl" dirty="0"/>
              <a:t> de los k-meros en el </a:t>
            </a:r>
            <a:r>
              <a:rPr lang="es-ES_tradnl" dirty="0" err="1"/>
              <a:t>querry</a:t>
            </a:r>
            <a:r>
              <a:rPr lang="es-ES_tradnl" dirty="0"/>
              <a:t> se incorpora al modelo al elevar al cuadrado la frecuencia en el modelo de referencia.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67598-C0BE-9247-8264-9B44CFF98E27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91466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Uno de los objetivos más frecuentes en estudios </a:t>
            </a:r>
            <a:r>
              <a:rPr lang="es-ES_tradnl" dirty="0" err="1"/>
              <a:t>ecologicos</a:t>
            </a:r>
            <a:r>
              <a:rPr lang="es-ES_tradnl" dirty="0"/>
              <a:t> es el de </a:t>
            </a:r>
            <a:r>
              <a:rPr lang="es-ES_tradnl" dirty="0" err="1"/>
              <a:t>desribir</a:t>
            </a:r>
            <a:r>
              <a:rPr lang="es-ES_tradnl" dirty="0"/>
              <a:t> la diversidad </a:t>
            </a:r>
            <a:r>
              <a:rPr lang="es-ES_tradnl" dirty="0" err="1"/>
              <a:t>biologica</a:t>
            </a:r>
            <a:r>
              <a:rPr lang="es-ES_tradnl" dirty="0"/>
              <a:t>, en este sentido </a:t>
            </a:r>
          </a:p>
          <a:p>
            <a:endParaRPr lang="es-ES_tradnl" dirty="0"/>
          </a:p>
          <a:p>
            <a:r>
              <a:rPr lang="es-ES_tradnl" dirty="0"/>
              <a:t>En 1960 Robert Whittaker propuso que la diversidad de </a:t>
            </a:r>
            <a:r>
              <a:rPr lang="es-ES_tradnl" dirty="0" err="1"/>
              <a:t>biologica</a:t>
            </a:r>
            <a:r>
              <a:rPr lang="es-ES_tradnl" dirty="0"/>
              <a:t> se puede dividir en dos componentes:</a:t>
            </a:r>
          </a:p>
          <a:p>
            <a:endParaRPr lang="es-ES_tradnl" dirty="0"/>
          </a:p>
          <a:p>
            <a:r>
              <a:rPr lang="es-ES_tradnl" dirty="0"/>
              <a:t>	1 Diversidad alfa: Que hace referencia a la diversidad de especies dentro  de comunidades en un área geográfica especifica</a:t>
            </a:r>
          </a:p>
          <a:p>
            <a:endParaRPr lang="es-ES_tradnl" dirty="0"/>
          </a:p>
          <a:p>
            <a:r>
              <a:rPr lang="es-ES_tradnl" dirty="0"/>
              <a:t>	2 Diversidad beta: Que hace referencia al cambio en la composición de especies entre comunidades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67598-C0BE-9247-8264-9B44CFF98E27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378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  <a:p>
            <a:r>
              <a:rPr lang="es-ES_tradnl" dirty="0" err="1"/>
              <a:t>Especificamente</a:t>
            </a:r>
            <a:r>
              <a:rPr lang="es-ES_tradnl" dirty="0"/>
              <a:t>, </a:t>
            </a:r>
          </a:p>
          <a:p>
            <a:endParaRPr lang="es-ES_tradnl" dirty="0"/>
          </a:p>
          <a:p>
            <a:r>
              <a:rPr lang="es-ES_tradnl" dirty="0"/>
              <a:t>Se puede pensar que la diversidad alfa busca responder que tan diversa es una muestra</a:t>
            </a:r>
          </a:p>
          <a:p>
            <a:endParaRPr lang="es-ES_tradnl" dirty="0"/>
          </a:p>
          <a:p>
            <a:r>
              <a:rPr lang="es-ES_tradnl" dirty="0" err="1"/>
              <a:t>Especificamente</a:t>
            </a:r>
            <a:r>
              <a:rPr lang="es-ES_tradnl" dirty="0"/>
              <a:t> se han empelado diversas métricas para medir la diversidad biológica de una muestra o un sitio especifico.</a:t>
            </a:r>
          </a:p>
          <a:p>
            <a:endParaRPr lang="es-ES_tradnl" dirty="0"/>
          </a:p>
          <a:p>
            <a:r>
              <a:rPr lang="es-ES_tradnl" dirty="0"/>
              <a:t>Estas métricas pueden estar enfocadas en describir la riqueza de especies, es decir el número de </a:t>
            </a:r>
            <a:r>
              <a:rPr lang="es-ES_tradnl" dirty="0" err="1"/>
              <a:t>taxa</a:t>
            </a:r>
            <a:r>
              <a:rPr lang="es-ES_tradnl" dirty="0"/>
              <a:t> diferentes.</a:t>
            </a:r>
          </a:p>
          <a:p>
            <a:endParaRPr lang="es-ES_tradnl" dirty="0"/>
          </a:p>
          <a:p>
            <a:r>
              <a:rPr lang="es-ES_tradnl" dirty="0"/>
              <a:t>En este sentido podemos imaginar tres comunidades diferentes una con ardillas, conejos y ranas, </a:t>
            </a:r>
          </a:p>
          <a:p>
            <a:r>
              <a:rPr lang="es-ES_tradnl" dirty="0"/>
              <a:t>otra con lagartijas, ardillas, conejos y ranas</a:t>
            </a:r>
          </a:p>
          <a:p>
            <a:r>
              <a:rPr lang="es-ES_tradnl" dirty="0"/>
              <a:t>Y otra con lagartijas y conejos.</a:t>
            </a:r>
          </a:p>
          <a:p>
            <a:endParaRPr lang="es-ES_tradnl" dirty="0"/>
          </a:p>
          <a:p>
            <a:r>
              <a:rPr lang="es-ES_tradnl" dirty="0"/>
              <a:t>Si contamos el número de especies la comunidad azul sería más diversa</a:t>
            </a:r>
          </a:p>
          <a:p>
            <a:endParaRPr lang="es-ES_tradnl" dirty="0"/>
          </a:p>
          <a:p>
            <a:r>
              <a:rPr lang="es-ES_tradnl" dirty="0"/>
              <a:t>Otro conjunto de métricas son las que consideran equitatividad, estas </a:t>
            </a:r>
            <a:r>
              <a:rPr lang="es-ES_tradnl" dirty="0" err="1"/>
              <a:t>evaluan</a:t>
            </a:r>
            <a:r>
              <a:rPr lang="es-ES_tradnl" dirty="0"/>
              <a:t> que tan diferentes son las abundancias de las especies en las comunidades.</a:t>
            </a:r>
          </a:p>
          <a:p>
            <a:r>
              <a:rPr lang="es-ES_tradnl" dirty="0"/>
              <a:t>En este ejemplo podemos decir que la comunidad más equitativa es la naranja mientras que la menos equitativa es la verde porque esta comunidad esta dominada por lagartijas</a:t>
            </a:r>
          </a:p>
          <a:p>
            <a:endParaRPr lang="es-ES_tradnl" dirty="0"/>
          </a:p>
          <a:p>
            <a:r>
              <a:rPr lang="es-ES_tradnl" dirty="0"/>
              <a:t>Por ultimo las métricas mixtas incorporan información sobre la riqueza y la </a:t>
            </a:r>
            <a:r>
              <a:rPr lang="es-ES_tradnl" dirty="0" err="1"/>
              <a:t>abudnacia</a:t>
            </a:r>
            <a:r>
              <a:rPr lang="es-ES_tradnl" dirty="0"/>
              <a:t> de las especies un ejemplo de esto es el índice de Shannon que considera la abundancia relativa de cada especie con relación al numero total de especies en una comunidad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67598-C0BE-9247-8264-9B44CFF98E27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3609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sz="1400" dirty="0"/>
          </a:p>
          <a:p>
            <a:r>
              <a:rPr lang="es-ES_tradnl" dirty="0"/>
              <a:t>Ahora bien la diversidad beta busca responder que tan diferentes son dos o mas comunidades.</a:t>
            </a:r>
          </a:p>
          <a:p>
            <a:endParaRPr lang="es-ES_tradnl" dirty="0"/>
          </a:p>
          <a:p>
            <a:r>
              <a:rPr lang="es-ES_tradnl" dirty="0"/>
              <a:t>Generalmente en estudios de microbioma la diversidad beta se </a:t>
            </a:r>
            <a:r>
              <a:rPr lang="es-ES_tradnl" dirty="0" err="1"/>
              <a:t>evalua</a:t>
            </a:r>
            <a:r>
              <a:rPr lang="es-ES_tradnl" dirty="0"/>
              <a:t> mediante el uso de matrices de distancias con el objetivo de evaluar la variación que existe entre distintos grupos de muestras.</a:t>
            </a:r>
          </a:p>
          <a:p>
            <a:endParaRPr lang="es-ES_tradnl" dirty="0"/>
          </a:p>
          <a:p>
            <a:r>
              <a:rPr lang="es-ES_tradnl" dirty="0"/>
              <a:t>En análisis </a:t>
            </a:r>
            <a:r>
              <a:rPr lang="es-ES_tradnl" dirty="0" err="1"/>
              <a:t>ecologicos</a:t>
            </a:r>
            <a:r>
              <a:rPr lang="es-ES_tradnl" dirty="0"/>
              <a:t> se suelen calcular dos tipos de distancias</a:t>
            </a:r>
          </a:p>
          <a:p>
            <a:r>
              <a:rPr lang="es-ES_tradnl" dirty="0"/>
              <a:t>	</a:t>
            </a:r>
          </a:p>
          <a:p>
            <a:r>
              <a:rPr lang="es-ES_tradnl" dirty="0"/>
              <a:t>	No ponderadas: en las que las </a:t>
            </a:r>
            <a:r>
              <a:rPr lang="es-ES_tradnl" dirty="0" err="1"/>
              <a:t>distnacias</a:t>
            </a:r>
            <a:r>
              <a:rPr lang="es-ES_tradnl" dirty="0"/>
              <a:t> se calculan comparando la identidad </a:t>
            </a:r>
          </a:p>
          <a:p>
            <a:r>
              <a:rPr lang="es-ES_tradnl" dirty="0"/>
              <a:t>	taxonómica de las comunidades</a:t>
            </a:r>
          </a:p>
          <a:p>
            <a:endParaRPr lang="es-ES_tradnl" dirty="0"/>
          </a:p>
          <a:p>
            <a:r>
              <a:rPr lang="es-ES_tradnl" dirty="0"/>
              <a:t>	Las Ponderadas: que además de considerar la identidad taxonómica también </a:t>
            </a:r>
          </a:p>
          <a:p>
            <a:r>
              <a:rPr lang="es-ES_tradnl" dirty="0"/>
              <a:t>	toman en cuenta la abundancia de cada uno de los </a:t>
            </a:r>
            <a:r>
              <a:rPr lang="es-ES_tradnl" dirty="0" err="1"/>
              <a:t>taxa</a:t>
            </a:r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r>
              <a:rPr lang="es-ES_tradnl" dirty="0" err="1"/>
              <a:t>Especificamente</a:t>
            </a:r>
            <a:r>
              <a:rPr lang="es-ES_tradnl" dirty="0"/>
              <a:t> las </a:t>
            </a:r>
            <a:r>
              <a:rPr lang="es-ES_tradnl" dirty="0" err="1"/>
              <a:t>distnaicas</a:t>
            </a:r>
            <a:r>
              <a:rPr lang="es-ES_tradnl" dirty="0"/>
              <a:t> </a:t>
            </a:r>
            <a:r>
              <a:rPr lang="es-ES_tradnl" dirty="0" err="1"/>
              <a:t>unifrac</a:t>
            </a:r>
            <a:r>
              <a:rPr lang="es-ES_tradnl" dirty="0"/>
              <a:t> que han sido muy empleadas en análisis de microbiomas permiten evaluar si la composición </a:t>
            </a:r>
            <a:r>
              <a:rPr lang="es-ES_tradnl" dirty="0" err="1"/>
              <a:t>filogentica</a:t>
            </a:r>
            <a:r>
              <a:rPr lang="es-ES_tradnl" dirty="0"/>
              <a:t> de las comunidades de microorganismos </a:t>
            </a:r>
            <a:r>
              <a:rPr lang="es-ES_tradnl" dirty="0" err="1"/>
              <a:t>varian</a:t>
            </a:r>
            <a:r>
              <a:rPr lang="es-ES_tradnl" dirty="0"/>
              <a:t> entre pares de muestras</a:t>
            </a:r>
          </a:p>
          <a:p>
            <a:endParaRPr lang="es-ES_tradnl" dirty="0"/>
          </a:p>
          <a:p>
            <a:r>
              <a:rPr lang="es-ES_tradnl" dirty="0"/>
              <a:t>Desde una perspectiva muy simplista las medidas </a:t>
            </a:r>
            <a:r>
              <a:rPr lang="es-ES_tradnl" dirty="0" err="1"/>
              <a:t>unifrac</a:t>
            </a:r>
            <a:r>
              <a:rPr lang="es-ES_tradnl" dirty="0"/>
              <a:t> nos dicen cuantas ramas tenemos que subir para encontrar un nodo que se comparte entre dos muestras</a:t>
            </a:r>
          </a:p>
          <a:p>
            <a:endParaRPr lang="es-ES_tradnl" dirty="0"/>
          </a:p>
          <a:p>
            <a:r>
              <a:rPr lang="es-ES_tradnl" dirty="0"/>
              <a:t>Para generar una matriz de distancia lo que se debe hacer es:</a:t>
            </a:r>
          </a:p>
          <a:p>
            <a:r>
              <a:rPr lang="es-ES_tradnl" dirty="0"/>
              <a:t>	Obtener un árbol </a:t>
            </a:r>
            <a:r>
              <a:rPr lang="es-ES_tradnl" dirty="0" err="1"/>
              <a:t>filogenetico</a:t>
            </a:r>
            <a:r>
              <a:rPr lang="es-ES_tradnl" dirty="0"/>
              <a:t> de todas las muestras</a:t>
            </a:r>
          </a:p>
          <a:p>
            <a:r>
              <a:rPr lang="es-ES_tradnl" dirty="0"/>
              <a:t>	</a:t>
            </a:r>
            <a:r>
              <a:rPr lang="es-ES_tradnl" dirty="0" err="1"/>
              <a:t>Despues</a:t>
            </a:r>
            <a:r>
              <a:rPr lang="es-ES_tradnl" dirty="0"/>
              <a:t> se comparan cada par de muestras</a:t>
            </a:r>
          </a:p>
          <a:p>
            <a:r>
              <a:rPr lang="es-ES_tradnl" dirty="0"/>
              <a:t>	Se marca cada una de las ramas del árbol como compartidas y no compartidas</a:t>
            </a:r>
          </a:p>
          <a:p>
            <a:r>
              <a:rPr lang="es-ES_tradnl" dirty="0"/>
              <a:t>	La distancia se calcula como la suma de ramas únicas entre la suma total de las ramas del árbol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Estas </a:t>
            </a:r>
            <a:r>
              <a:rPr lang="es-ES_tradnl" dirty="0" err="1"/>
              <a:t>matries</a:t>
            </a:r>
            <a:r>
              <a:rPr lang="es-ES_tradnl" dirty="0"/>
              <a:t> suelen usarse para representar diferencias entre muestras mediante diversos análisis de ordenamiento como los </a:t>
            </a:r>
            <a:r>
              <a:rPr lang="es-ES_tradnl" dirty="0" err="1"/>
              <a:t>PCoA</a:t>
            </a:r>
            <a:r>
              <a:rPr lang="es-ES_tradnl" dirty="0"/>
              <a:t> o los NMDS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67598-C0BE-9247-8264-9B44CFF98E27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7238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5825-2077-4BA0-CF74-1633EF826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FE8548-5C74-B658-4ED7-9C82A2AE4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787C4-B20D-687C-BC32-D6B26CDB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92DC72-B938-A613-576C-51925C1D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D4E00-7FB6-1601-C1E1-3F84B9B6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870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841E5-B5CC-5567-04CF-F76DB6D2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670B4B-3D71-792F-BB42-1B72162E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C2F72-1D5C-7DEC-3FB9-94494BCB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A87AD4-8C15-4D14-9862-A3E028C7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373BA9-FBEF-FD39-811B-AD84E203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646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20CDB-6CA8-28B2-B20E-48ACAC28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FBA5F8-4218-763E-1872-4217DD24B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DCD0ED-C4FC-BDA2-2821-3DC4FEB6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4DEFD6-074F-719C-3C5B-2DB77AF2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57F559-62D4-0BE1-F5F9-94B642A9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744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4BE6A-C452-9D0C-4042-C05C029C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050618-9E33-856A-8FC3-FE21EF6A3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CCE69E-9A6C-08DD-FC3F-A1AAC4145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230453-0DD1-F0C1-C6F5-4E5FB7E6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F7190-D244-36E8-6A02-13A7615B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E1677D-7BD1-DC14-B064-6D6C1E11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195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61D67-1C23-DBA4-770A-920D1FF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299DB9-2568-56F1-738B-F2DB287F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16F56D-688E-68C6-6ABD-71DD6E8E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6064B7-F7EC-3581-6F8A-8F8DFE380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DB3CD3-84B3-8ECF-3EBB-401D7779F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62AA03-8BC6-2086-C080-BD09F1D7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58C456-54A3-4C5F-A3AF-54BF887E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1AFC44-7198-04E2-C14D-0B2E14F0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80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F1F9F-EBE4-4689-24F0-E1E805C4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0897AB-7B01-E780-F8C9-0CB20897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280520-7AD4-4021-15A1-FE42D3C8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3532E9-5453-82A9-886E-04A24688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87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0AE17C-AFB5-2939-12BD-7642900F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0DA0F4-9E3D-434A-6F48-5D8E34BB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A503EE-9DEF-6748-AC0C-27207486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9661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0A78E-339F-D896-26C8-26253107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C4CFE2-1494-7944-37BD-9B9E1BD7A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17579C-BFC5-1096-D5CD-00488E721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C5A68E-0428-6516-104A-227839D4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B1355D-090F-5192-0827-5BBE63F4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64EC44-5513-C518-B22D-7A25300A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870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2BA21-6D2C-C072-503D-6E3FCAE3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A02857-7FBF-6F0C-412C-CB097FC0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74CF89-EEFF-5543-68B3-15B314A47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3A9714-A1FB-8534-A015-E12993A5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E7685D-B7A7-ACCC-C4F7-B6104D34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C02022-E9EE-D1C8-869A-442FAD34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539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C5B9C-CD6B-4D85-D333-BFD80218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2B0204-B3FA-1BF6-CAC2-B59521B17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52BDA-1010-5E62-CF72-20F56E14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3C61BB-12F8-39B9-1A91-5B999A7A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9D359-49E5-9638-EC62-9F115930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6008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F374DC-5620-C46F-9E65-0B504A483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B16848-9A4F-E9C3-FBC4-92FB32FD6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376F04-7E4D-BF6B-7362-A69D53B2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EA2146-890D-355C-8340-12376B4C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44086-2569-981A-BDD9-9CA990F9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740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34FA81-ECEE-9479-3CB9-B3A8CCAF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06A61D-A552-C25D-E69F-8C4DEC367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61C822-3FA8-08E3-BED6-342401574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BD926-1826-FE46-9122-DFDD47871C4F}" type="datetimeFigureOut">
              <a:rPr lang="es-ES_tradnl" smtClean="0"/>
              <a:t>12/5/26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0FDA02-362E-5CF7-3AF4-363685A2B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11658F-5372-B6DE-07AD-ABD47A833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12DF7-1022-E74F-AA78-0CD815899B5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342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BB1BABD8-98A5-8287-CDF6-A224833D6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2184"/>
            <a:ext cx="9144000" cy="1930758"/>
          </a:xfrm>
        </p:spPr>
        <p:txBody>
          <a:bodyPr/>
          <a:lstStyle/>
          <a:p>
            <a:r>
              <a:rPr lang="es-ES_tradnl" dirty="0"/>
              <a:t>Día 3: Análisis de datos de amplicones del gen 16S</a:t>
            </a: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22F908BA-ECD0-92FF-3074-B3DC5ECCD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22324"/>
            <a:ext cx="9144000" cy="1226380"/>
          </a:xfrm>
        </p:spPr>
        <p:txBody>
          <a:bodyPr/>
          <a:lstStyle/>
          <a:p>
            <a:r>
              <a:rPr lang="es-ES_tradnl" dirty="0"/>
              <a:t>14-mayo-2026</a:t>
            </a:r>
          </a:p>
          <a:p>
            <a:r>
              <a:rPr lang="es-ES_tradnl" dirty="0"/>
              <a:t>Emanuel Martínez-Ugalde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6B47F5-74F0-75E0-555D-120558A9993D}"/>
              </a:ext>
            </a:extLst>
          </p:cNvPr>
          <p:cNvSpPr txBox="1"/>
          <p:nvPr/>
        </p:nvSpPr>
        <p:spPr>
          <a:xfrm>
            <a:off x="1669831" y="403979"/>
            <a:ext cx="88523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dirty="0">
                <a:solidFill>
                  <a:srgbClr val="595959"/>
                </a:solidFill>
                <a:latin typeface="Arial" panose="020B0604020202020204" pitchFamily="34" charset="0"/>
              </a:rPr>
              <a:t>Microbiología predictiva con Python: del análisis de microbiomas a modelos para</a:t>
            </a:r>
          </a:p>
          <a:p>
            <a:pPr algn="ctr"/>
            <a:r>
              <a:rPr lang="es-MX" sz="4000" b="1" dirty="0">
                <a:solidFill>
                  <a:srgbClr val="595959"/>
                </a:solidFill>
                <a:latin typeface="Arial" panose="020B0604020202020204" pitchFamily="34" charset="0"/>
              </a:rPr>
              <a:t>Investigación</a:t>
            </a:r>
            <a:br>
              <a:rPr lang="es-MX" sz="4000" b="1" dirty="0"/>
            </a:br>
            <a:br>
              <a:rPr lang="es-MX" sz="4000" b="1" dirty="0"/>
            </a:br>
            <a:endParaRPr lang="es-ES_tradnl" sz="4000" b="1" dirty="0"/>
          </a:p>
        </p:txBody>
      </p:sp>
    </p:spTree>
    <p:extLst>
      <p:ext uri="{BB962C8B-B14F-4D97-AF65-F5344CB8AC3E}">
        <p14:creationId xmlns:p14="http://schemas.microsoft.com/office/powerpoint/2010/main" val="364781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adroTexto 41">
            <a:extLst>
              <a:ext uri="{FF2B5EF4-FFF2-40B4-BE49-F238E27FC236}">
                <a16:creationId xmlns:a16="http://schemas.microsoft.com/office/drawing/2014/main" id="{57A56B88-9747-1EDF-4E57-E2B7AE11E302}"/>
              </a:ext>
            </a:extLst>
          </p:cNvPr>
          <p:cNvSpPr txBox="1"/>
          <p:nvPr/>
        </p:nvSpPr>
        <p:spPr>
          <a:xfrm>
            <a:off x="943433" y="3174293"/>
            <a:ext cx="34416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/>
              <a:t>Modulación de respuestas inmunes</a:t>
            </a:r>
          </a:p>
          <a:p>
            <a:endParaRPr lang="es-ES_tradnl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91CB2DB-7093-4A30-2323-C95F0DDDD3E5}"/>
              </a:ext>
            </a:extLst>
          </p:cNvPr>
          <p:cNvSpPr txBox="1"/>
          <p:nvPr/>
        </p:nvSpPr>
        <p:spPr>
          <a:xfrm>
            <a:off x="8695466" y="3066138"/>
            <a:ext cx="2605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/>
              <a:t>Modulan mecanismos reproductivos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C90456-6BA3-A51F-1DC6-849C01ED9466}"/>
              </a:ext>
            </a:extLst>
          </p:cNvPr>
          <p:cNvSpPr txBox="1"/>
          <p:nvPr/>
        </p:nvSpPr>
        <p:spPr>
          <a:xfrm>
            <a:off x="4683297" y="5526527"/>
            <a:ext cx="3413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/>
              <a:t>Contribuyen en la respuesta a diversos tipos de estrés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73E0CDCC-390E-5F22-65C8-147B30A082B9}"/>
              </a:ext>
            </a:extLst>
          </p:cNvPr>
          <p:cNvGrpSpPr/>
          <p:nvPr/>
        </p:nvGrpSpPr>
        <p:grpSpPr>
          <a:xfrm>
            <a:off x="3919196" y="1631398"/>
            <a:ext cx="4353608" cy="4461565"/>
            <a:chOff x="3008027" y="614597"/>
            <a:chExt cx="6175946" cy="5628806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F81A083A-46C3-5BFF-693D-0E23277E4AFE}"/>
                </a:ext>
              </a:extLst>
            </p:cNvPr>
            <p:cNvGrpSpPr/>
            <p:nvPr/>
          </p:nvGrpSpPr>
          <p:grpSpPr>
            <a:xfrm>
              <a:off x="3008027" y="614597"/>
              <a:ext cx="6175946" cy="5628806"/>
              <a:chOff x="3522733" y="1929986"/>
              <a:chExt cx="4151193" cy="3916881"/>
            </a:xfrm>
          </p:grpSpPr>
          <p:pic>
            <p:nvPicPr>
              <p:cNvPr id="11" name="Gráfico 10" descr="Butterfly con relleno sólido">
                <a:extLst>
                  <a:ext uri="{FF2B5EF4-FFF2-40B4-BE49-F238E27FC236}">
                    <a16:creationId xmlns:a16="http://schemas.microsoft.com/office/drawing/2014/main" id="{8E6D1625-B33E-6158-32F2-827E2A1B8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1695937">
                <a:off x="6152726" y="2529317"/>
                <a:ext cx="1308765" cy="1308765"/>
              </a:xfrm>
              <a:prstGeom prst="rect">
                <a:avLst/>
              </a:prstGeom>
            </p:spPr>
          </p:pic>
          <p:pic>
            <p:nvPicPr>
              <p:cNvPr id="7" name="Gráfico 6" descr="Sparrow con relleno sólido">
                <a:extLst>
                  <a:ext uri="{FF2B5EF4-FFF2-40B4-BE49-F238E27FC236}">
                    <a16:creationId xmlns:a16="http://schemas.microsoft.com/office/drawing/2014/main" id="{8E97BBFC-410A-F7F7-3286-D5ACA8B10C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526487" y="2759152"/>
                <a:ext cx="1027448" cy="1027448"/>
              </a:xfrm>
              <a:prstGeom prst="rect">
                <a:avLst/>
              </a:prstGeom>
            </p:spPr>
          </p:pic>
          <p:pic>
            <p:nvPicPr>
              <p:cNvPr id="9" name="Gráfico 8" descr="Bug con relleno sólido">
                <a:extLst>
                  <a:ext uri="{FF2B5EF4-FFF2-40B4-BE49-F238E27FC236}">
                    <a16:creationId xmlns:a16="http://schemas.microsoft.com/office/drawing/2014/main" id="{840FA088-A117-241F-E365-F64AF426E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87554" y="3855471"/>
                <a:ext cx="775771" cy="775771"/>
              </a:xfrm>
              <a:prstGeom prst="rect">
                <a:avLst/>
              </a:prstGeom>
            </p:spPr>
          </p:pic>
          <p:pic>
            <p:nvPicPr>
              <p:cNvPr id="5" name="Gráfico 4" descr="Gecko con relleno sólido">
                <a:extLst>
                  <a:ext uri="{FF2B5EF4-FFF2-40B4-BE49-F238E27FC236}">
                    <a16:creationId xmlns:a16="http://schemas.microsoft.com/office/drawing/2014/main" id="{ECF6BA7B-AFBA-F955-4801-D0FD5AC3A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368050" y="4507117"/>
                <a:ext cx="972281" cy="972281"/>
              </a:xfrm>
              <a:prstGeom prst="rect">
                <a:avLst/>
              </a:prstGeom>
            </p:spPr>
          </p:pic>
          <p:pic>
            <p:nvPicPr>
              <p:cNvPr id="30" name="Gráfico 29" descr="Cactus con relleno sólido">
                <a:extLst>
                  <a:ext uri="{FF2B5EF4-FFF2-40B4-BE49-F238E27FC236}">
                    <a16:creationId xmlns:a16="http://schemas.microsoft.com/office/drawing/2014/main" id="{3C0F9853-277F-8773-F893-5EEB35CA0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15273" y="2858753"/>
                <a:ext cx="1855694" cy="1855694"/>
              </a:xfrm>
              <a:prstGeom prst="rect">
                <a:avLst/>
              </a:prstGeom>
            </p:spPr>
          </p:pic>
          <p:pic>
            <p:nvPicPr>
              <p:cNvPr id="32" name="Gráfico 31" descr="Petri Dish contorno">
                <a:extLst>
                  <a:ext uri="{FF2B5EF4-FFF2-40B4-BE49-F238E27FC236}">
                    <a16:creationId xmlns:a16="http://schemas.microsoft.com/office/drawing/2014/main" id="{6FF6C334-AC94-DF2E-F80D-89E309330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59526" y="194435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6" name="Gráfico 35" descr="Petri Dish con relleno sólido">
                <a:extLst>
                  <a:ext uri="{FF2B5EF4-FFF2-40B4-BE49-F238E27FC236}">
                    <a16:creationId xmlns:a16="http://schemas.microsoft.com/office/drawing/2014/main" id="{4A4B8143-74CE-8FA2-88F7-C449BEB871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251434" y="425724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9" name="Gráfico 38" descr="Petri Dish con relleno sólido">
                <a:extLst>
                  <a:ext uri="{FF2B5EF4-FFF2-40B4-BE49-F238E27FC236}">
                    <a16:creationId xmlns:a16="http://schemas.microsoft.com/office/drawing/2014/main" id="{AF75FDEC-5194-A4AF-8F53-9E76A1BFAD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22733" y="493246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0" name="Gráfico 39" descr="Petri Dish con relleno sólido">
                <a:extLst>
                  <a:ext uri="{FF2B5EF4-FFF2-40B4-BE49-F238E27FC236}">
                    <a16:creationId xmlns:a16="http://schemas.microsoft.com/office/drawing/2014/main" id="{FA704CB0-230E-3518-BA20-53C6B620E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271271" y="1929986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46" name="Gráfico 45" descr="Petri Dish contorno">
              <a:extLst>
                <a:ext uri="{FF2B5EF4-FFF2-40B4-BE49-F238E27FC236}">
                  <a16:creationId xmlns:a16="http://schemas.microsoft.com/office/drawing/2014/main" id="{BA05C495-1246-E25D-E231-8DD72048F7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74230" y="1728032"/>
              <a:ext cx="1360400" cy="1314051"/>
            </a:xfrm>
            <a:prstGeom prst="rect">
              <a:avLst/>
            </a:prstGeom>
          </p:spPr>
        </p:pic>
      </p:grpSp>
      <p:sp>
        <p:nvSpPr>
          <p:cNvPr id="49" name="Título 48">
            <a:extLst>
              <a:ext uri="{FF2B5EF4-FFF2-40B4-BE49-F238E27FC236}">
                <a16:creationId xmlns:a16="http://schemas.microsoft.com/office/drawing/2014/main" id="{7D1A1F42-B8B5-53EA-9EB2-2390951D7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¿Qué es y cuál es la importancia del microbioma?</a:t>
            </a:r>
          </a:p>
        </p:txBody>
      </p:sp>
    </p:spTree>
    <p:extLst>
      <p:ext uri="{BB962C8B-B14F-4D97-AF65-F5344CB8AC3E}">
        <p14:creationId xmlns:p14="http://schemas.microsoft.com/office/powerpoint/2010/main" val="56779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C0F20-C22D-BE58-3013-7981A02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+mn-lt"/>
              </a:rPr>
              <a:t>¿Cómo estudiamos el microbioma?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30C2964-ABB6-5B32-F0B8-E4AAAD320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012" b="27380"/>
          <a:stretch>
            <a:fillRect/>
          </a:stretch>
        </p:blipFill>
        <p:spPr>
          <a:xfrm>
            <a:off x="1987806" y="2100718"/>
            <a:ext cx="8216387" cy="334632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179DCEE-B977-A175-16EE-C5A856734379}"/>
              </a:ext>
            </a:extLst>
          </p:cNvPr>
          <p:cNvSpPr txBox="1"/>
          <p:nvPr/>
        </p:nvSpPr>
        <p:spPr>
          <a:xfrm>
            <a:off x="2188089" y="1784767"/>
            <a:ext cx="3515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Secuenciación de amplicones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84FD5E4-7260-8C14-00AC-B3981ADC05DE}"/>
              </a:ext>
            </a:extLst>
          </p:cNvPr>
          <p:cNvSpPr txBox="1"/>
          <p:nvPr/>
        </p:nvSpPr>
        <p:spPr>
          <a:xfrm>
            <a:off x="7074947" y="1784767"/>
            <a:ext cx="2931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Metagenómica (</a:t>
            </a:r>
            <a:r>
              <a:rPr lang="es-ES_tradnl" sz="2000" dirty="0" err="1"/>
              <a:t>shotgun</a:t>
            </a:r>
            <a:r>
              <a:rPr lang="es-ES_tradnl" sz="2000" dirty="0"/>
              <a:t>)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8A3CA2-B8F5-97AF-5CBD-DA753209EEFA}"/>
              </a:ext>
            </a:extLst>
          </p:cNvPr>
          <p:cNvSpPr/>
          <p:nvPr/>
        </p:nvSpPr>
        <p:spPr>
          <a:xfrm>
            <a:off x="5900574" y="1695711"/>
            <a:ext cx="4077325" cy="4035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2CA3C8F-40E4-25DA-E6FA-5F458C5AC4C2}"/>
              </a:ext>
            </a:extLst>
          </p:cNvPr>
          <p:cNvGrpSpPr/>
          <p:nvPr/>
        </p:nvGrpSpPr>
        <p:grpSpPr>
          <a:xfrm>
            <a:off x="7009847" y="2100718"/>
            <a:ext cx="2788171" cy="3560807"/>
            <a:chOff x="2054527" y="5362222"/>
            <a:chExt cx="990252" cy="1350709"/>
          </a:xfrm>
        </p:grpSpPr>
        <p:pic>
          <p:nvPicPr>
            <p:cNvPr id="7" name="Gráfico 6" descr="Germ con relleno sólido">
              <a:extLst>
                <a:ext uri="{FF2B5EF4-FFF2-40B4-BE49-F238E27FC236}">
                  <a16:creationId xmlns:a16="http://schemas.microsoft.com/office/drawing/2014/main" id="{A644FD54-30A3-118E-80B0-0D6DF08BFB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4527" y="6272819"/>
              <a:ext cx="440112" cy="440112"/>
            </a:xfrm>
            <a:prstGeom prst="rect">
              <a:avLst/>
            </a:prstGeom>
          </p:spPr>
        </p:pic>
        <p:pic>
          <p:nvPicPr>
            <p:cNvPr id="9" name="Gráfico 8" descr="Mushroom con relleno sólido">
              <a:extLst>
                <a:ext uri="{FF2B5EF4-FFF2-40B4-BE49-F238E27FC236}">
                  <a16:creationId xmlns:a16="http://schemas.microsoft.com/office/drawing/2014/main" id="{57E8B2B9-A244-FED1-779C-76C21C2250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84611" y="5832707"/>
              <a:ext cx="440112" cy="440112"/>
            </a:xfrm>
            <a:prstGeom prst="rect">
              <a:avLst/>
            </a:prstGeom>
          </p:spPr>
        </p:pic>
        <p:pic>
          <p:nvPicPr>
            <p:cNvPr id="11" name="Gráfico 10" descr="Germ con relleno sólido">
              <a:extLst>
                <a:ext uri="{FF2B5EF4-FFF2-40B4-BE49-F238E27FC236}">
                  <a16:creationId xmlns:a16="http://schemas.microsoft.com/office/drawing/2014/main" id="{5AEB3123-5407-ADCB-161D-B8DD1C6FF7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84611" y="5362222"/>
              <a:ext cx="440112" cy="440112"/>
            </a:xfrm>
            <a:prstGeom prst="rect">
              <a:avLst/>
            </a:prstGeom>
          </p:spPr>
        </p:pic>
        <p:pic>
          <p:nvPicPr>
            <p:cNvPr id="13" name="Gráfico 12" descr="Worm con relleno sólido">
              <a:extLst>
                <a:ext uri="{FF2B5EF4-FFF2-40B4-BE49-F238E27FC236}">
                  <a16:creationId xmlns:a16="http://schemas.microsoft.com/office/drawing/2014/main" id="{61B40B97-797B-927B-8B08-57FFD68DBA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04667" y="6272819"/>
              <a:ext cx="440112" cy="440112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27E360F-EFF5-AE14-9EE5-17EF00B7507A}"/>
              </a:ext>
            </a:extLst>
          </p:cNvPr>
          <p:cNvSpPr txBox="1"/>
          <p:nvPr/>
        </p:nvSpPr>
        <p:spPr>
          <a:xfrm>
            <a:off x="2259409" y="5081402"/>
            <a:ext cx="842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Primer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B1B3427-A541-F545-A79A-AEAA1E4DB8E6}"/>
              </a:ext>
            </a:extLst>
          </p:cNvPr>
          <p:cNvSpPr txBox="1"/>
          <p:nvPr/>
        </p:nvSpPr>
        <p:spPr>
          <a:xfrm>
            <a:off x="4054106" y="5081402"/>
            <a:ext cx="1666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Secuencia gen conservado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45E0901-77E3-43E0-8848-7A76F4762E99}"/>
              </a:ext>
            </a:extLst>
          </p:cNvPr>
          <p:cNvSpPr txBox="1"/>
          <p:nvPr/>
        </p:nvSpPr>
        <p:spPr>
          <a:xfrm>
            <a:off x="9977899" y="2184877"/>
            <a:ext cx="185371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/>
              <a:t>16S </a:t>
            </a:r>
            <a:r>
              <a:rPr lang="es-ES_tradnl" sz="2000" dirty="0" err="1"/>
              <a:t>rRNA</a:t>
            </a:r>
            <a:endParaRPr lang="es-ES_tradnl" sz="2000" dirty="0"/>
          </a:p>
          <a:p>
            <a:endParaRPr lang="es-ES_tradnl" sz="2000" dirty="0"/>
          </a:p>
          <a:p>
            <a:endParaRPr lang="es-ES_tradnl" sz="2000" dirty="0"/>
          </a:p>
          <a:p>
            <a:endParaRPr lang="es-ES_tradnl" sz="2000" dirty="0"/>
          </a:p>
          <a:p>
            <a:endParaRPr lang="es-ES_tradnl" sz="2000" dirty="0"/>
          </a:p>
          <a:p>
            <a:r>
              <a:rPr lang="es-ES_tradnl" sz="2000" dirty="0"/>
              <a:t>ITS</a:t>
            </a:r>
          </a:p>
          <a:p>
            <a:endParaRPr lang="es-ES_tradnl" sz="2000" dirty="0"/>
          </a:p>
          <a:p>
            <a:endParaRPr lang="es-ES_tradnl" sz="2000" dirty="0"/>
          </a:p>
          <a:p>
            <a:endParaRPr lang="es-ES_tradnl" sz="2000" dirty="0"/>
          </a:p>
          <a:p>
            <a:r>
              <a:rPr lang="es-ES_tradnl" sz="2000" dirty="0"/>
              <a:t>COI / 18S </a:t>
            </a:r>
            <a:r>
              <a:rPr lang="es-ES_tradnl" sz="2000" dirty="0" err="1"/>
              <a:t>rRNA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248327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734D4-1009-C6EA-C9B6-DD39BA37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sz="4000" b="1" noProof="0" dirty="0">
                <a:latin typeface="+mn-lt"/>
              </a:rPr>
              <a:t>¿</a:t>
            </a:r>
            <a:r>
              <a:rPr lang="es-ES_tradnl" sz="4000" b="1" dirty="0">
                <a:latin typeface="+mn-lt"/>
              </a:rPr>
              <a:t>Cómo interpretamos los datos de secuenciación?</a:t>
            </a:r>
            <a:endParaRPr lang="es-ES_tradnl" sz="4000" b="1" noProof="0" dirty="0">
              <a:latin typeface="+mn-lt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19E23A44-1BF5-03A0-2E63-559BBBDD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57" y="1690688"/>
            <a:ext cx="10515600" cy="44991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_tradnl" dirty="0"/>
              <a:t>Ecosistema de análisis e interpretación de datos derivados de estudios de secuenciación de comunidades microbianas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Actualmente cuenta con diversas distribuciones:</a:t>
            </a:r>
          </a:p>
          <a:p>
            <a:pPr lvl="1"/>
            <a:r>
              <a:rPr lang="es-ES_tradnl" dirty="0"/>
              <a:t>Qiime2: análisis de amplicones</a:t>
            </a:r>
          </a:p>
          <a:p>
            <a:pPr lvl="2"/>
            <a:r>
              <a:rPr lang="es-ES_tradnl" dirty="0"/>
              <a:t>Clásica / Tiny</a:t>
            </a:r>
          </a:p>
          <a:p>
            <a:pPr lvl="2"/>
            <a:endParaRPr lang="es-ES_tradnl" dirty="0"/>
          </a:p>
          <a:p>
            <a:pPr marL="914400" lvl="2" indent="0">
              <a:buNone/>
            </a:pPr>
            <a:endParaRPr lang="es-ES_tradnl" dirty="0"/>
          </a:p>
          <a:p>
            <a:pPr lvl="1"/>
            <a:r>
              <a:rPr lang="es-ES_tradnl" dirty="0"/>
              <a:t>MOSHPIT: </a:t>
            </a:r>
            <a:r>
              <a:rPr lang="es-MX" dirty="0"/>
              <a:t>MOdular SHotgun metagenome Pipelines with Integrated provenance Tracking</a:t>
            </a:r>
          </a:p>
          <a:p>
            <a:pPr lvl="2"/>
            <a:r>
              <a:rPr lang="es-MX" dirty="0"/>
              <a:t>Pathogenome</a:t>
            </a:r>
          </a:p>
          <a:p>
            <a:pPr lvl="2"/>
            <a:endParaRPr lang="es-ES_tradnl" dirty="0"/>
          </a:p>
          <a:p>
            <a:pPr marL="0" indent="0">
              <a:buNone/>
            </a:pPr>
            <a:r>
              <a:rPr lang="es-ES_tradnl" dirty="0"/>
              <a:t>			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pic>
        <p:nvPicPr>
          <p:cNvPr id="2052" name="Picture 4" descr="QIIME 2 · GitHub">
            <a:extLst>
              <a:ext uri="{FF2B5EF4-FFF2-40B4-BE49-F238E27FC236}">
                <a16:creationId xmlns:a16="http://schemas.microsoft.com/office/drawing/2014/main" id="{C18945D8-0B2A-D220-74D7-4E455146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300" y="3005696"/>
            <a:ext cx="846603" cy="84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4CBA88-7073-4D49-20D9-824996EC6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085" y="5091534"/>
            <a:ext cx="988471" cy="98464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A201D22-9F8F-9F0F-CE97-43A11690D69B}"/>
              </a:ext>
            </a:extLst>
          </p:cNvPr>
          <p:cNvSpPr txBox="1"/>
          <p:nvPr/>
        </p:nvSpPr>
        <p:spPr>
          <a:xfrm>
            <a:off x="119921" y="6488668"/>
            <a:ext cx="410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Caporaso et al. 2010, Boylen et al. 2019</a:t>
            </a:r>
          </a:p>
        </p:txBody>
      </p:sp>
      <p:pic>
        <p:nvPicPr>
          <p:cNvPr id="1026" name="Picture 2" descr="QIIME - SUPERCÓMPUTO ESPE">
            <a:extLst>
              <a:ext uri="{FF2B5EF4-FFF2-40B4-BE49-F238E27FC236}">
                <a16:creationId xmlns:a16="http://schemas.microsoft.com/office/drawing/2014/main" id="{44C2802E-CEA5-EF7A-8323-175DF0C1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383" y="2498045"/>
            <a:ext cx="2797225" cy="186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60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B8C94-7294-6BCE-39DC-3FD1FFFB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034" y="352954"/>
            <a:ext cx="6862410" cy="1238284"/>
          </a:xfrm>
        </p:spPr>
        <p:txBody>
          <a:bodyPr>
            <a:noAutofit/>
          </a:bodyPr>
          <a:lstStyle/>
          <a:p>
            <a:r>
              <a:rPr lang="es-ES_tradnl" sz="4400" b="1" dirty="0"/>
              <a:t>¿Cómo funciona Qiime2?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D6107-3273-BECE-F618-EB3D5DEDF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3719" y="2663276"/>
            <a:ext cx="3932237" cy="308081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/>
              <a:t>Usa un sistema modular en donde cada tarea es manejada por métodos / </a:t>
            </a:r>
            <a:r>
              <a:rPr lang="es-ES_tradnl" sz="2400" dirty="0" err="1"/>
              <a:t>plugins</a:t>
            </a:r>
            <a:r>
              <a:rPr lang="es-ES_tradnl" sz="2400" dirty="0"/>
              <a:t> específicos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/>
              <a:t>Un pipeline es un conjunto de métodos / programas / </a:t>
            </a:r>
            <a:r>
              <a:rPr lang="es-ES_tradnl" sz="2400" dirty="0" err="1"/>
              <a:t>plugins</a:t>
            </a:r>
            <a:endParaRPr lang="es-ES_trad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400" dirty="0"/>
          </a:p>
          <a:p>
            <a:endParaRPr lang="es-ES_tradnl" sz="240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E389F70-2709-873B-BA3C-B95698AA70AD}"/>
              </a:ext>
            </a:extLst>
          </p:cNvPr>
          <p:cNvGrpSpPr/>
          <p:nvPr/>
        </p:nvGrpSpPr>
        <p:grpSpPr>
          <a:xfrm>
            <a:off x="6306046" y="676611"/>
            <a:ext cx="5396956" cy="5828435"/>
            <a:chOff x="6190564" y="245171"/>
            <a:chExt cx="5396956" cy="5828435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42496C3F-0CEF-AB1F-779E-FF0A417BE81D}"/>
                </a:ext>
              </a:extLst>
            </p:cNvPr>
            <p:cNvSpPr/>
            <p:nvPr/>
          </p:nvSpPr>
          <p:spPr>
            <a:xfrm>
              <a:off x="6190564" y="5156925"/>
              <a:ext cx="2698478" cy="91668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/>
                <a:t>Artefacto</a:t>
              </a:r>
            </a:p>
          </p:txBody>
        </p:sp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B7124AA7-DDE1-61BA-4335-5F1A5927804F}"/>
                </a:ext>
              </a:extLst>
            </p:cNvPr>
            <p:cNvSpPr/>
            <p:nvPr/>
          </p:nvSpPr>
          <p:spPr>
            <a:xfrm>
              <a:off x="8889042" y="5156924"/>
              <a:ext cx="2698478" cy="91668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/>
                <a:t>Visualización</a:t>
              </a:r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72D1BF42-BA0E-2738-6170-52E89EB669E1}"/>
                </a:ext>
              </a:extLst>
            </p:cNvPr>
            <p:cNvGrpSpPr/>
            <p:nvPr/>
          </p:nvGrpSpPr>
          <p:grpSpPr>
            <a:xfrm>
              <a:off x="7539803" y="245171"/>
              <a:ext cx="2698478" cy="4911753"/>
              <a:chOff x="7539803" y="245171"/>
              <a:chExt cx="2698478" cy="4911753"/>
            </a:xfrm>
          </p:grpSpPr>
          <p:sp>
            <p:nvSpPr>
              <p:cNvPr id="14" name="Rectángulo redondeado 13">
                <a:extLst>
                  <a:ext uri="{FF2B5EF4-FFF2-40B4-BE49-F238E27FC236}">
                    <a16:creationId xmlns:a16="http://schemas.microsoft.com/office/drawing/2014/main" id="{863A3CDE-95A4-32B5-44E5-676EFF4414D1}"/>
                  </a:ext>
                </a:extLst>
              </p:cNvPr>
              <p:cNvSpPr/>
              <p:nvPr/>
            </p:nvSpPr>
            <p:spPr>
              <a:xfrm>
                <a:off x="7539803" y="245171"/>
                <a:ext cx="2698478" cy="91668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dirty="0"/>
                  <a:t>Artefacto</a:t>
                </a:r>
              </a:p>
            </p:txBody>
          </p:sp>
          <p:sp>
            <p:nvSpPr>
              <p:cNvPr id="15" name="Rectángulo redondeado 14">
                <a:extLst>
                  <a:ext uri="{FF2B5EF4-FFF2-40B4-BE49-F238E27FC236}">
                    <a16:creationId xmlns:a16="http://schemas.microsoft.com/office/drawing/2014/main" id="{0E4254C5-3DD3-D3BE-DAA7-199C820D3755}"/>
                  </a:ext>
                </a:extLst>
              </p:cNvPr>
              <p:cNvSpPr/>
              <p:nvPr/>
            </p:nvSpPr>
            <p:spPr>
              <a:xfrm>
                <a:off x="7539803" y="2343023"/>
                <a:ext cx="2698478" cy="91668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dirty="0"/>
                  <a:t>Pipeline</a:t>
                </a:r>
              </a:p>
            </p:txBody>
          </p:sp>
          <p:sp>
            <p:nvSpPr>
              <p:cNvPr id="16" name="Rectángulo redondeado 15">
                <a:extLst>
                  <a:ext uri="{FF2B5EF4-FFF2-40B4-BE49-F238E27FC236}">
                    <a16:creationId xmlns:a16="http://schemas.microsoft.com/office/drawing/2014/main" id="{EDB7DF4A-B917-A51D-B981-D97DDC3B6CC4}"/>
                  </a:ext>
                </a:extLst>
              </p:cNvPr>
              <p:cNvSpPr/>
              <p:nvPr/>
            </p:nvSpPr>
            <p:spPr>
              <a:xfrm>
                <a:off x="7539803" y="3798320"/>
                <a:ext cx="2698478" cy="91668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dirty="0"/>
                  <a:t>Método</a:t>
                </a:r>
              </a:p>
            </p:txBody>
          </p:sp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61CB12BD-E42E-60E7-43AA-BFFAFF19D5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9042" y="1241531"/>
                <a:ext cx="0" cy="1101492"/>
              </a:xfrm>
              <a:prstGeom prst="straightConnector1">
                <a:avLst/>
              </a:prstGeom>
              <a:ln w="76200">
                <a:solidFill>
                  <a:schemeClr val="dk1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de flecha 23">
                <a:extLst>
                  <a:ext uri="{FF2B5EF4-FFF2-40B4-BE49-F238E27FC236}">
                    <a16:creationId xmlns:a16="http://schemas.microsoft.com/office/drawing/2014/main" id="{30A25C98-1186-AF9E-3BC2-3E79A1141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9042" y="3259705"/>
                <a:ext cx="0" cy="538615"/>
              </a:xfrm>
              <a:prstGeom prst="straightConnector1">
                <a:avLst/>
              </a:prstGeom>
              <a:ln w="76200">
                <a:solidFill>
                  <a:schemeClr val="dk1"/>
                </a:solidFill>
                <a:prstDash val="solid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1125493B-D022-243B-063D-009F0999C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9042" y="4694358"/>
                <a:ext cx="470752" cy="462565"/>
              </a:xfrm>
              <a:prstGeom prst="straightConnector1">
                <a:avLst/>
              </a:prstGeom>
              <a:ln w="76200">
                <a:solidFill>
                  <a:schemeClr val="dk1"/>
                </a:solidFill>
                <a:prstDash val="solid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de flecha 31">
                <a:extLst>
                  <a:ext uri="{FF2B5EF4-FFF2-40B4-BE49-F238E27FC236}">
                    <a16:creationId xmlns:a16="http://schemas.microsoft.com/office/drawing/2014/main" id="{780758BA-4776-5002-7726-3D3B802FDD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9502" y="4715001"/>
                <a:ext cx="484431" cy="441923"/>
              </a:xfrm>
              <a:prstGeom prst="straightConnector1">
                <a:avLst/>
              </a:prstGeom>
              <a:ln w="76200">
                <a:solidFill>
                  <a:schemeClr val="dk1"/>
                </a:solidFill>
                <a:prstDash val="solid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1833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3DAD6-BDC4-E427-1CA7-820064DF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/>
              <a:t>Características de un comando de Qiime2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2263F5-00C0-DA75-A770-9AAA19116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226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s-MX" sz="2400" dirty="0">
                <a:solidFill>
                  <a:schemeClr val="accent2"/>
                </a:solidFill>
                <a:effectLst/>
                <a:latin typeface="Helvetica" pitchFamily="2" charset="0"/>
              </a:rPr>
              <a:t>qiime tools import</a:t>
            </a:r>
            <a:r>
              <a:rPr lang="es-MX" sz="2400" dirty="0">
                <a:effectLst/>
                <a:latin typeface="Helvetica" pitchFamily="2" charset="0"/>
              </a:rPr>
              <a:t> </a:t>
            </a:r>
            <a:r>
              <a:rPr lang="es-MX" sz="2400" dirty="0">
                <a:solidFill>
                  <a:srgbClr val="0070C0"/>
                </a:solidFill>
                <a:effectLst/>
                <a:latin typeface="Helvetica" pitchFamily="2" charset="0"/>
              </a:rPr>
              <a:t>--type 'SampleData[SequencesWithQuality]' </a:t>
            </a:r>
            <a:r>
              <a:rPr lang="es-MX" sz="2400" b="1" dirty="0">
                <a:solidFill>
                  <a:schemeClr val="accent3"/>
                </a:solidFill>
                <a:effectLst/>
                <a:latin typeface="Helvetica" pitchFamily="2" charset="0"/>
              </a:rPr>
              <a:t>--input-path </a:t>
            </a:r>
            <a:r>
              <a:rPr lang="es-MX" sz="2400" dirty="0">
                <a:solidFill>
                  <a:schemeClr val="accent3"/>
                </a:solidFill>
                <a:latin typeface="Helvetica" pitchFamily="2" charset="0"/>
              </a:rPr>
              <a:t>Path_archivo_*.txt </a:t>
            </a:r>
            <a:r>
              <a:rPr lang="es-MX" sz="2400" b="1" dirty="0">
                <a:solidFill>
                  <a:schemeClr val="accent3"/>
                </a:solidFill>
                <a:effectLst/>
                <a:latin typeface="Helvetica" pitchFamily="2" charset="0"/>
              </a:rPr>
              <a:t>--output-path </a:t>
            </a:r>
            <a:r>
              <a:rPr lang="es-MX" sz="2400" dirty="0">
                <a:solidFill>
                  <a:schemeClr val="accent3"/>
                </a:solidFill>
                <a:effectLst/>
                <a:latin typeface="Helvetica" pitchFamily="2" charset="0"/>
              </a:rPr>
              <a:t>Path_archivo_*.qza </a:t>
            </a:r>
            <a:r>
              <a:rPr lang="es-MX" sz="2400" dirty="0">
                <a:solidFill>
                  <a:srgbClr val="0070C0"/>
                </a:solidFill>
                <a:effectLst/>
                <a:latin typeface="Helvetica" pitchFamily="2" charset="0"/>
              </a:rPr>
              <a:t>--input-format SingleEndFastqManifestPhred33V2</a:t>
            </a:r>
          </a:p>
          <a:p>
            <a:pPr marL="0" indent="0">
              <a:buNone/>
            </a:pPr>
            <a:endParaRPr lang="es-MX" sz="2400" b="1" dirty="0">
              <a:latin typeface="Helvetica" pitchFamily="2" charset="0"/>
            </a:endParaRPr>
          </a:p>
          <a:p>
            <a:pPr marL="0" indent="0">
              <a:buNone/>
            </a:pPr>
            <a:endParaRPr lang="es-MX" sz="2400" b="1" dirty="0">
              <a:latin typeface="Helvetica" pitchFamily="2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2396434-7F1E-C0F4-72A4-58EBDE96C383}"/>
              </a:ext>
            </a:extLst>
          </p:cNvPr>
          <p:cNvSpPr/>
          <p:nvPr/>
        </p:nvSpPr>
        <p:spPr>
          <a:xfrm>
            <a:off x="1549831" y="3592654"/>
            <a:ext cx="433952" cy="4339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FA8C890-A0F4-F5F3-4987-CC898C81B4BE}"/>
              </a:ext>
            </a:extLst>
          </p:cNvPr>
          <p:cNvSpPr/>
          <p:nvPr/>
        </p:nvSpPr>
        <p:spPr>
          <a:xfrm>
            <a:off x="1549831" y="4258205"/>
            <a:ext cx="433952" cy="433952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03C1224-AA7D-65EC-0A18-F240DACE5490}"/>
              </a:ext>
            </a:extLst>
          </p:cNvPr>
          <p:cNvSpPr/>
          <p:nvPr/>
        </p:nvSpPr>
        <p:spPr>
          <a:xfrm>
            <a:off x="1549831" y="4923757"/>
            <a:ext cx="433952" cy="43395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352461-DA24-836E-A309-D7B4B69CBF2D}"/>
              </a:ext>
            </a:extLst>
          </p:cNvPr>
          <p:cNvSpPr txBox="1"/>
          <p:nvPr/>
        </p:nvSpPr>
        <p:spPr>
          <a:xfrm>
            <a:off x="2123267" y="3548020"/>
            <a:ext cx="6371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/>
              <a:t>Activación del plugin / modulo / pipeline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48A891-1756-AC0B-FFB3-4A680C784D86}"/>
              </a:ext>
            </a:extLst>
          </p:cNvPr>
          <p:cNvSpPr txBox="1"/>
          <p:nvPr/>
        </p:nvSpPr>
        <p:spPr>
          <a:xfrm>
            <a:off x="2123267" y="4213571"/>
            <a:ext cx="894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/>
              <a:t>Parámetros del comando (funcionamiento del programa)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925D7E-BEC5-B697-8E2E-0D7B81AD1E35}"/>
              </a:ext>
            </a:extLst>
          </p:cNvPr>
          <p:cNvSpPr txBox="1"/>
          <p:nvPr/>
        </p:nvSpPr>
        <p:spPr>
          <a:xfrm>
            <a:off x="2123267" y="4879122"/>
            <a:ext cx="7222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/>
              <a:t>Parámetros del comando que indican la ubicación de los archivos de entrada y salida</a:t>
            </a:r>
          </a:p>
        </p:txBody>
      </p:sp>
    </p:spTree>
    <p:extLst>
      <p:ext uri="{BB962C8B-B14F-4D97-AF65-F5344CB8AC3E}">
        <p14:creationId xmlns:p14="http://schemas.microsoft.com/office/powerpoint/2010/main" val="102041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A2649-B697-121E-132D-DC375772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+mn-lt"/>
              </a:rPr>
              <a:t>Tipos de archivos en Qiime2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9D2368-6739-1DA5-54E3-432FA0290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Artefactos o QZA</a:t>
            </a:r>
          </a:p>
          <a:p>
            <a:pPr lvl="1"/>
            <a:r>
              <a:rPr lang="es-ES_tradnl" dirty="0"/>
              <a:t>Carpetas comprimidas que contienen datos e información sobre cómo se generaron</a:t>
            </a:r>
          </a:p>
          <a:p>
            <a:pPr lvl="1"/>
            <a:r>
              <a:rPr lang="es-ES_tradnl" dirty="0"/>
              <a:t>Son archivos de </a:t>
            </a:r>
            <a:r>
              <a:rPr lang="es-ES_tradnl" b="1" dirty="0"/>
              <a:t>entrada o salida</a:t>
            </a:r>
          </a:p>
          <a:p>
            <a:pPr lvl="1"/>
            <a:r>
              <a:rPr lang="es-ES_tradnl" dirty="0"/>
              <a:t>Terminación .</a:t>
            </a:r>
            <a:r>
              <a:rPr lang="es-ES_tradnl" dirty="0" err="1"/>
              <a:t>qza</a:t>
            </a:r>
            <a:endParaRPr lang="es-ES_tradnl" dirty="0"/>
          </a:p>
          <a:p>
            <a:endParaRPr lang="es-ES_tradnl" dirty="0"/>
          </a:p>
          <a:p>
            <a:r>
              <a:rPr lang="es-ES_tradnl" dirty="0"/>
              <a:t>Visualizaciones o QZV</a:t>
            </a:r>
          </a:p>
          <a:p>
            <a:pPr lvl="1"/>
            <a:r>
              <a:rPr lang="es-ES_tradnl" dirty="0"/>
              <a:t>Son archivos de </a:t>
            </a:r>
            <a:r>
              <a:rPr lang="es-ES_tradnl" b="1" dirty="0"/>
              <a:t>salida,</a:t>
            </a:r>
            <a:r>
              <a:rPr lang="es-ES_tradnl" dirty="0"/>
              <a:t> pueden ser tablas o gráficas</a:t>
            </a:r>
          </a:p>
          <a:p>
            <a:pPr lvl="1"/>
            <a:r>
              <a:rPr lang="es-ES_tradnl" dirty="0"/>
              <a:t>Terminación .</a:t>
            </a:r>
            <a:r>
              <a:rPr lang="es-ES_tradnl" dirty="0" err="1"/>
              <a:t>qzv</a:t>
            </a:r>
            <a:endParaRPr lang="es-ES_tradnl" dirty="0"/>
          </a:p>
          <a:p>
            <a:pPr lvl="1"/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6025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D497-BCAE-A722-992C-426E701E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b="1" dirty="0"/>
              <a:t>Flujo de trabajo para el análisis de datos de secuenciación de microbiomas (amplicones)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BE16EE3-AE89-3B23-BE36-E59C9684A6E3}"/>
              </a:ext>
            </a:extLst>
          </p:cNvPr>
          <p:cNvGrpSpPr/>
          <p:nvPr/>
        </p:nvGrpSpPr>
        <p:grpSpPr>
          <a:xfrm rot="18559395">
            <a:off x="472518" y="3217703"/>
            <a:ext cx="1282219" cy="1436008"/>
            <a:chOff x="1358722" y="2822958"/>
            <a:chExt cx="2162578" cy="1977642"/>
          </a:xfrm>
        </p:grpSpPr>
        <p:cxnSp>
          <p:nvCxnSpPr>
            <p:cNvPr id="6" name="Conector curvado 5">
              <a:extLst>
                <a:ext uri="{FF2B5EF4-FFF2-40B4-BE49-F238E27FC236}">
                  <a16:creationId xmlns:a16="http://schemas.microsoft.com/office/drawing/2014/main" id="{F1857A0C-B1F0-F375-B02E-ACFC6391472A}"/>
                </a:ext>
              </a:extLst>
            </p:cNvPr>
            <p:cNvCxnSpPr>
              <a:cxnSpLocks/>
            </p:cNvCxnSpPr>
            <p:nvPr/>
          </p:nvCxnSpPr>
          <p:spPr>
            <a:xfrm>
              <a:off x="1358722" y="2971800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ector curvado 6">
              <a:extLst>
                <a:ext uri="{FF2B5EF4-FFF2-40B4-BE49-F238E27FC236}">
                  <a16:creationId xmlns:a16="http://schemas.microsoft.com/office/drawing/2014/main" id="{984B7AE8-F7B1-A1F9-D8DD-542BC8B1C21E}"/>
                </a:ext>
              </a:extLst>
            </p:cNvPr>
            <p:cNvCxnSpPr/>
            <p:nvPr/>
          </p:nvCxnSpPr>
          <p:spPr>
            <a:xfrm>
              <a:off x="2440011" y="3886200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ector curvado 7">
              <a:extLst>
                <a:ext uri="{FF2B5EF4-FFF2-40B4-BE49-F238E27FC236}">
                  <a16:creationId xmlns:a16="http://schemas.microsoft.com/office/drawing/2014/main" id="{E571E711-9610-F3EA-3F4F-DDB30E57C283}"/>
                </a:ext>
              </a:extLst>
            </p:cNvPr>
            <p:cNvCxnSpPr/>
            <p:nvPr/>
          </p:nvCxnSpPr>
          <p:spPr>
            <a:xfrm>
              <a:off x="1601811" y="2822958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curvado 8">
              <a:extLst>
                <a:ext uri="{FF2B5EF4-FFF2-40B4-BE49-F238E27FC236}">
                  <a16:creationId xmlns:a16="http://schemas.microsoft.com/office/drawing/2014/main" id="{A1CA205D-93E4-F511-FEB4-9D5BA0B99CAC}"/>
                </a:ext>
              </a:extLst>
            </p:cNvPr>
            <p:cNvCxnSpPr/>
            <p:nvPr/>
          </p:nvCxnSpPr>
          <p:spPr>
            <a:xfrm>
              <a:off x="2606900" y="3085676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curvado 9">
              <a:extLst>
                <a:ext uri="{FF2B5EF4-FFF2-40B4-BE49-F238E27FC236}">
                  <a16:creationId xmlns:a16="http://schemas.microsoft.com/office/drawing/2014/main" id="{202B644E-E689-E118-C8C2-DB8EB67DC28F}"/>
                </a:ext>
              </a:extLst>
            </p:cNvPr>
            <p:cNvCxnSpPr/>
            <p:nvPr/>
          </p:nvCxnSpPr>
          <p:spPr>
            <a:xfrm>
              <a:off x="2273122" y="3252141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037B429-67B9-D2C4-98D5-EC69EBF14B3B}"/>
              </a:ext>
            </a:extLst>
          </p:cNvPr>
          <p:cNvGrpSpPr/>
          <p:nvPr/>
        </p:nvGrpSpPr>
        <p:grpSpPr>
          <a:xfrm>
            <a:off x="2498501" y="3214830"/>
            <a:ext cx="1715666" cy="1441755"/>
            <a:chOff x="2142660" y="2772204"/>
            <a:chExt cx="2354843" cy="1760481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0D2777F-9F51-C26F-4009-EB9298D3DD07}"/>
                </a:ext>
              </a:extLst>
            </p:cNvPr>
            <p:cNvGrpSpPr/>
            <p:nvPr/>
          </p:nvGrpSpPr>
          <p:grpSpPr>
            <a:xfrm>
              <a:off x="2264796" y="2998234"/>
              <a:ext cx="2232707" cy="1534451"/>
              <a:chOff x="2264796" y="2998234"/>
              <a:chExt cx="2232707" cy="1534451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B7C58443-E480-9BE9-8A41-088D57FA1AFB}"/>
                  </a:ext>
                </a:extLst>
              </p:cNvPr>
              <p:cNvGrpSpPr/>
              <p:nvPr/>
            </p:nvGrpSpPr>
            <p:grpSpPr>
              <a:xfrm>
                <a:off x="2264796" y="3515164"/>
                <a:ext cx="2104806" cy="693855"/>
                <a:chOff x="2223910" y="3656607"/>
                <a:chExt cx="2104806" cy="693855"/>
              </a:xfrm>
            </p:grpSpPr>
            <p:cxnSp>
              <p:nvCxnSpPr>
                <p:cNvPr id="16" name="Conector curvado 15">
                  <a:extLst>
                    <a:ext uri="{FF2B5EF4-FFF2-40B4-BE49-F238E27FC236}">
                      <a16:creationId xmlns:a16="http://schemas.microsoft.com/office/drawing/2014/main" id="{A96EC84E-E880-5D2E-42ED-5C1B5213F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23910" y="4072597"/>
                  <a:ext cx="489935" cy="87540"/>
                </a:xfrm>
                <a:prstGeom prst="curvedConnector3">
                  <a:avLst>
                    <a:gd name="adj1" fmla="val 47372"/>
                  </a:avLst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ector curvado 17">
                  <a:extLst>
                    <a:ext uri="{FF2B5EF4-FFF2-40B4-BE49-F238E27FC236}">
                      <a16:creationId xmlns:a16="http://schemas.microsoft.com/office/drawing/2014/main" id="{A18D90F2-4260-FF96-7D94-3F28EE42D3EF}"/>
                    </a:ext>
                  </a:extLst>
                </p:cNvPr>
                <p:cNvCxnSpPr/>
                <p:nvPr/>
              </p:nvCxnSpPr>
              <p:spPr>
                <a:xfrm rot="18559395">
                  <a:off x="2910605" y="3626150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curvado 20">
                  <a:extLst>
                    <a:ext uri="{FF2B5EF4-FFF2-40B4-BE49-F238E27FC236}">
                      <a16:creationId xmlns:a16="http://schemas.microsoft.com/office/drawing/2014/main" id="{182AF704-A706-8C22-B76F-F251C1C696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38781" y="38274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D17EE6EA-D7F4-4224-ACB9-997F9D2C9842}"/>
                  </a:ext>
                </a:extLst>
              </p:cNvPr>
              <p:cNvGrpSpPr/>
              <p:nvPr/>
            </p:nvGrpSpPr>
            <p:grpSpPr>
              <a:xfrm>
                <a:off x="2296574" y="3838830"/>
                <a:ext cx="2172114" cy="693855"/>
                <a:chOff x="2410155" y="4552391"/>
                <a:chExt cx="2172114" cy="693855"/>
              </a:xfrm>
            </p:grpSpPr>
            <p:cxnSp>
              <p:nvCxnSpPr>
                <p:cNvPr id="15" name="Conector curvado 14">
                  <a:extLst>
                    <a:ext uri="{FF2B5EF4-FFF2-40B4-BE49-F238E27FC236}">
                      <a16:creationId xmlns:a16="http://schemas.microsoft.com/office/drawing/2014/main" id="{CB1EFBD4-7FD9-6FA3-3065-9A6CD8CE295C}"/>
                    </a:ext>
                  </a:extLst>
                </p:cNvPr>
                <p:cNvCxnSpPr/>
                <p:nvPr/>
              </p:nvCxnSpPr>
              <p:spPr>
                <a:xfrm rot="18559395">
                  <a:off x="3124964" y="4521934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ector curvado 24">
                  <a:extLst>
                    <a:ext uri="{FF2B5EF4-FFF2-40B4-BE49-F238E27FC236}">
                      <a16:creationId xmlns:a16="http://schemas.microsoft.com/office/drawing/2014/main" id="{41F0FE4D-302F-2DD4-5867-FA9564DF6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43693" y="4748873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ector curvado 26">
                  <a:extLst>
                    <a:ext uri="{FF2B5EF4-FFF2-40B4-BE49-F238E27FC236}">
                      <a16:creationId xmlns:a16="http://schemas.microsoft.com/office/drawing/2014/main" id="{7FD189D9-1DE6-4FC5-CE95-D5D065AECF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10155" y="4956336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F3B0C067-6209-7419-5563-8016E475F271}"/>
                  </a:ext>
                </a:extLst>
              </p:cNvPr>
              <p:cNvGrpSpPr/>
              <p:nvPr/>
            </p:nvGrpSpPr>
            <p:grpSpPr>
              <a:xfrm>
                <a:off x="2264796" y="2998234"/>
                <a:ext cx="2229744" cy="693855"/>
                <a:chOff x="2352525" y="3046702"/>
                <a:chExt cx="2229744" cy="693855"/>
              </a:xfrm>
            </p:grpSpPr>
            <p:cxnSp>
              <p:nvCxnSpPr>
                <p:cNvPr id="14" name="Conector curvado 13">
                  <a:extLst>
                    <a:ext uri="{FF2B5EF4-FFF2-40B4-BE49-F238E27FC236}">
                      <a16:creationId xmlns:a16="http://schemas.microsoft.com/office/drawing/2014/main" id="{D7ECE06E-1D3A-86BA-5EF5-3A4F3083A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52525" y="3452240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Conector curvado 16">
                  <a:extLst>
                    <a:ext uri="{FF2B5EF4-FFF2-40B4-BE49-F238E27FC236}">
                      <a16:creationId xmlns:a16="http://schemas.microsoft.com/office/drawing/2014/main" id="{3C781BB7-DDD4-EDC0-DA64-B96A32B387ED}"/>
                    </a:ext>
                  </a:extLst>
                </p:cNvPr>
                <p:cNvCxnSpPr/>
                <p:nvPr/>
              </p:nvCxnSpPr>
              <p:spPr>
                <a:xfrm rot="18559395">
                  <a:off x="3123433" y="3016245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3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ector curvado 27">
                  <a:extLst>
                    <a:ext uri="{FF2B5EF4-FFF2-40B4-BE49-F238E27FC236}">
                      <a16:creationId xmlns:a16="http://schemas.microsoft.com/office/drawing/2014/main" id="{DF15C290-C977-362D-1745-7CA10ADE05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92334" y="32983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D13AE8F7-9A0C-F686-7CE1-92FA7BE6DB65}"/>
                  </a:ext>
                </a:extLst>
              </p:cNvPr>
              <p:cNvGrpSpPr/>
              <p:nvPr/>
            </p:nvGrpSpPr>
            <p:grpSpPr>
              <a:xfrm>
                <a:off x="2267759" y="3228076"/>
                <a:ext cx="2229744" cy="693855"/>
                <a:chOff x="2352525" y="3046702"/>
                <a:chExt cx="2229744" cy="693855"/>
              </a:xfrm>
            </p:grpSpPr>
            <p:cxnSp>
              <p:nvCxnSpPr>
                <p:cNvPr id="33" name="Conector curvado 32">
                  <a:extLst>
                    <a:ext uri="{FF2B5EF4-FFF2-40B4-BE49-F238E27FC236}">
                      <a16:creationId xmlns:a16="http://schemas.microsoft.com/office/drawing/2014/main" id="{95F3AEE3-0844-4EA7-6A96-A3CAA55EA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52525" y="3452240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curvado 33">
                  <a:extLst>
                    <a:ext uri="{FF2B5EF4-FFF2-40B4-BE49-F238E27FC236}">
                      <a16:creationId xmlns:a16="http://schemas.microsoft.com/office/drawing/2014/main" id="{38A2202A-D72C-2F48-ACDE-D27A226E1CB9}"/>
                    </a:ext>
                  </a:extLst>
                </p:cNvPr>
                <p:cNvCxnSpPr/>
                <p:nvPr/>
              </p:nvCxnSpPr>
              <p:spPr>
                <a:xfrm rot="18559395">
                  <a:off x="3123433" y="3016245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curvado 34">
                  <a:extLst>
                    <a:ext uri="{FF2B5EF4-FFF2-40B4-BE49-F238E27FC236}">
                      <a16:creationId xmlns:a16="http://schemas.microsoft.com/office/drawing/2014/main" id="{72088D0B-D7C6-456C-4439-63D173BF99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92334" y="32983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ED86BB77-837C-F8D0-2C33-847A8B54C7F7}"/>
                </a:ext>
              </a:extLst>
            </p:cNvPr>
            <p:cNvGrpSpPr/>
            <p:nvPr/>
          </p:nvGrpSpPr>
          <p:grpSpPr>
            <a:xfrm>
              <a:off x="2142660" y="2772204"/>
              <a:ext cx="2229744" cy="693855"/>
              <a:chOff x="2352525" y="3046702"/>
              <a:chExt cx="2229744" cy="693855"/>
            </a:xfrm>
          </p:grpSpPr>
          <p:cxnSp>
            <p:nvCxnSpPr>
              <p:cNvPr id="37" name="Conector curvado 36">
                <a:extLst>
                  <a:ext uri="{FF2B5EF4-FFF2-40B4-BE49-F238E27FC236}">
                    <a16:creationId xmlns:a16="http://schemas.microsoft.com/office/drawing/2014/main" id="{2E2DF48F-346F-3C90-60FE-F0B782D61A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52525" y="3452240"/>
                <a:ext cx="538576" cy="87540"/>
              </a:xfrm>
              <a:prstGeom prst="curvedConnector3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ector curvado 37">
                <a:extLst>
                  <a:ext uri="{FF2B5EF4-FFF2-40B4-BE49-F238E27FC236}">
                    <a16:creationId xmlns:a16="http://schemas.microsoft.com/office/drawing/2014/main" id="{1F6A16EE-416A-E523-0BAC-6999D273E45C}"/>
                  </a:ext>
                </a:extLst>
              </p:cNvPr>
              <p:cNvCxnSpPr/>
              <p:nvPr/>
            </p:nvCxnSpPr>
            <p:spPr>
              <a:xfrm rot="18559395">
                <a:off x="3123433" y="3016245"/>
                <a:ext cx="693855" cy="754769"/>
              </a:xfrm>
              <a:prstGeom prst="curvedConnector3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Conector curvado 38">
                <a:extLst>
                  <a:ext uri="{FF2B5EF4-FFF2-40B4-BE49-F238E27FC236}">
                    <a16:creationId xmlns:a16="http://schemas.microsoft.com/office/drawing/2014/main" id="{BDDC69AD-20C2-89E0-3422-2D5CB58F05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92334" y="3298333"/>
                <a:ext cx="489935" cy="87540"/>
              </a:xfrm>
              <a:prstGeom prst="curvedConnector3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388F3206-2178-F5E6-1A41-DAEA2DF69BAF}"/>
              </a:ext>
            </a:extLst>
          </p:cNvPr>
          <p:cNvGrpSpPr/>
          <p:nvPr/>
        </p:nvGrpSpPr>
        <p:grpSpPr>
          <a:xfrm>
            <a:off x="5054862" y="2740169"/>
            <a:ext cx="1312833" cy="2391077"/>
            <a:chOff x="4958707" y="2210890"/>
            <a:chExt cx="2098100" cy="2993952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61BB5158-5135-6597-3F8C-28493E9EFAD9}"/>
                </a:ext>
              </a:extLst>
            </p:cNvPr>
            <p:cNvGrpSpPr/>
            <p:nvPr/>
          </p:nvGrpSpPr>
          <p:grpSpPr>
            <a:xfrm>
              <a:off x="5155604" y="2210890"/>
              <a:ext cx="785484" cy="1325563"/>
              <a:chOff x="5155603" y="2076504"/>
              <a:chExt cx="1095311" cy="1459949"/>
            </a:xfrm>
          </p:grpSpPr>
          <p:cxnSp>
            <p:nvCxnSpPr>
              <p:cNvPr id="42" name="Conector curvado 41">
                <a:extLst>
                  <a:ext uri="{FF2B5EF4-FFF2-40B4-BE49-F238E27FC236}">
                    <a16:creationId xmlns:a16="http://schemas.microsoft.com/office/drawing/2014/main" id="{37A1DEFD-ABC1-C0F1-FF6F-5D95D1012381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Conector curvado 42">
                <a:extLst>
                  <a:ext uri="{FF2B5EF4-FFF2-40B4-BE49-F238E27FC236}">
                    <a16:creationId xmlns:a16="http://schemas.microsoft.com/office/drawing/2014/main" id="{0B5EEFA0-B362-E727-4FF1-60BE302059F3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Conector curvado 43">
                <a:extLst>
                  <a:ext uri="{FF2B5EF4-FFF2-40B4-BE49-F238E27FC236}">
                    <a16:creationId xmlns:a16="http://schemas.microsoft.com/office/drawing/2014/main" id="{441E2D7C-7009-68A3-AABA-58CD4A405303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de flecha 49">
                <a:extLst>
                  <a:ext uri="{FF2B5EF4-FFF2-40B4-BE49-F238E27FC236}">
                    <a16:creationId xmlns:a16="http://schemas.microsoft.com/office/drawing/2014/main" id="{91372BF2-3FDD-07EA-59E4-A3782C4EFA02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49B9A50C-AABD-83B0-4C78-4F72F6A20B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007CE994-99EA-D0DC-4D7B-941033AF35DA}"/>
                </a:ext>
              </a:extLst>
            </p:cNvPr>
            <p:cNvGrpSpPr/>
            <p:nvPr/>
          </p:nvGrpSpPr>
          <p:grpSpPr>
            <a:xfrm>
              <a:off x="6271323" y="2605391"/>
              <a:ext cx="785484" cy="1325563"/>
              <a:chOff x="5155603" y="2076504"/>
              <a:chExt cx="1095311" cy="1459949"/>
            </a:xfrm>
          </p:grpSpPr>
          <p:cxnSp>
            <p:nvCxnSpPr>
              <p:cNvPr id="57" name="Conector curvado 56">
                <a:extLst>
                  <a:ext uri="{FF2B5EF4-FFF2-40B4-BE49-F238E27FC236}">
                    <a16:creationId xmlns:a16="http://schemas.microsoft.com/office/drawing/2014/main" id="{B3C34593-D755-2F68-0270-0E396BC9E263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Conector curvado 57">
                <a:extLst>
                  <a:ext uri="{FF2B5EF4-FFF2-40B4-BE49-F238E27FC236}">
                    <a16:creationId xmlns:a16="http://schemas.microsoft.com/office/drawing/2014/main" id="{25BB627F-0447-669B-C2D6-9F92A37195F4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Conector curvado 58">
                <a:extLst>
                  <a:ext uri="{FF2B5EF4-FFF2-40B4-BE49-F238E27FC236}">
                    <a16:creationId xmlns:a16="http://schemas.microsoft.com/office/drawing/2014/main" id="{38D37F19-0509-E690-84BB-6CBF51BC23BE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3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de flecha 59">
                <a:extLst>
                  <a:ext uri="{FF2B5EF4-FFF2-40B4-BE49-F238E27FC236}">
                    <a16:creationId xmlns:a16="http://schemas.microsoft.com/office/drawing/2014/main" id="{B863FB95-5144-7791-DD84-7A0F4D577A83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de flecha 60">
                <a:extLst>
                  <a:ext uri="{FF2B5EF4-FFF2-40B4-BE49-F238E27FC236}">
                    <a16:creationId xmlns:a16="http://schemas.microsoft.com/office/drawing/2014/main" id="{56791582-34E4-D3A0-4512-1E0378D4E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3DBE9FE3-43B1-8839-41D5-F27B7BE665DA}"/>
                </a:ext>
              </a:extLst>
            </p:cNvPr>
            <p:cNvGrpSpPr/>
            <p:nvPr/>
          </p:nvGrpSpPr>
          <p:grpSpPr>
            <a:xfrm>
              <a:off x="6185240" y="3879279"/>
              <a:ext cx="785484" cy="1325563"/>
              <a:chOff x="5155603" y="2076504"/>
              <a:chExt cx="1095311" cy="1459949"/>
            </a:xfrm>
          </p:grpSpPr>
          <p:cxnSp>
            <p:nvCxnSpPr>
              <p:cNvPr id="63" name="Conector curvado 62">
                <a:extLst>
                  <a:ext uri="{FF2B5EF4-FFF2-40B4-BE49-F238E27FC236}">
                    <a16:creationId xmlns:a16="http://schemas.microsoft.com/office/drawing/2014/main" id="{C24581D9-9881-BAE1-8C92-46D340EE9FDD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Conector curvado 63">
                <a:extLst>
                  <a:ext uri="{FF2B5EF4-FFF2-40B4-BE49-F238E27FC236}">
                    <a16:creationId xmlns:a16="http://schemas.microsoft.com/office/drawing/2014/main" id="{D0C53625-E00C-5B1B-75BB-D45A0840BFB6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Conector curvado 64">
                <a:extLst>
                  <a:ext uri="{FF2B5EF4-FFF2-40B4-BE49-F238E27FC236}">
                    <a16:creationId xmlns:a16="http://schemas.microsoft.com/office/drawing/2014/main" id="{4948AA32-BCAC-0EC3-15F4-D48D7B0CC016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de flecha 65">
                <a:extLst>
                  <a:ext uri="{FF2B5EF4-FFF2-40B4-BE49-F238E27FC236}">
                    <a16:creationId xmlns:a16="http://schemas.microsoft.com/office/drawing/2014/main" id="{7342F2D2-9E89-34C1-F629-BD05126C7B4A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de flecha 66">
                <a:extLst>
                  <a:ext uri="{FF2B5EF4-FFF2-40B4-BE49-F238E27FC236}">
                    <a16:creationId xmlns:a16="http://schemas.microsoft.com/office/drawing/2014/main" id="{88AE31AE-9CBB-D3E7-D7EC-D9EFE830B7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2AC502FE-A7D4-EA6C-02C4-1ADDCD41FE3B}"/>
                </a:ext>
              </a:extLst>
            </p:cNvPr>
            <p:cNvGrpSpPr/>
            <p:nvPr/>
          </p:nvGrpSpPr>
          <p:grpSpPr>
            <a:xfrm>
              <a:off x="4958707" y="3823608"/>
              <a:ext cx="785484" cy="1325563"/>
              <a:chOff x="5155603" y="2076504"/>
              <a:chExt cx="1095311" cy="1459949"/>
            </a:xfrm>
          </p:grpSpPr>
          <p:cxnSp>
            <p:nvCxnSpPr>
              <p:cNvPr id="69" name="Conector curvado 68">
                <a:extLst>
                  <a:ext uri="{FF2B5EF4-FFF2-40B4-BE49-F238E27FC236}">
                    <a16:creationId xmlns:a16="http://schemas.microsoft.com/office/drawing/2014/main" id="{8C6E6E19-EE74-095D-52AB-9B1631025D00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Conector curvado 69">
                <a:extLst>
                  <a:ext uri="{FF2B5EF4-FFF2-40B4-BE49-F238E27FC236}">
                    <a16:creationId xmlns:a16="http://schemas.microsoft.com/office/drawing/2014/main" id="{7F0D92B4-325B-FBAF-B338-99D48796ED7E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Conector curvado 70">
                <a:extLst>
                  <a:ext uri="{FF2B5EF4-FFF2-40B4-BE49-F238E27FC236}">
                    <a16:creationId xmlns:a16="http://schemas.microsoft.com/office/drawing/2014/main" id="{A48A4390-6FD1-AD9F-70CF-BD96B958B87F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741DD068-0B6F-ADBA-0D8B-939E56BEBBBC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de flecha 72">
                <a:extLst>
                  <a:ext uri="{FF2B5EF4-FFF2-40B4-BE49-F238E27FC236}">
                    <a16:creationId xmlns:a16="http://schemas.microsoft.com/office/drawing/2014/main" id="{05F094E7-4710-3ECF-A07B-ECE4CDB79B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F27E80F4-C0B1-2F4B-9453-A45EC90D8CB3}"/>
              </a:ext>
            </a:extLst>
          </p:cNvPr>
          <p:cNvGrpSpPr/>
          <p:nvPr/>
        </p:nvGrpSpPr>
        <p:grpSpPr>
          <a:xfrm>
            <a:off x="7563651" y="3131627"/>
            <a:ext cx="1111619" cy="1608161"/>
            <a:chOff x="8380866" y="2687377"/>
            <a:chExt cx="1821301" cy="2426684"/>
          </a:xfrm>
        </p:grpSpPr>
        <p:cxnSp>
          <p:nvCxnSpPr>
            <p:cNvPr id="76" name="Conector curvado 75">
              <a:extLst>
                <a:ext uri="{FF2B5EF4-FFF2-40B4-BE49-F238E27FC236}">
                  <a16:creationId xmlns:a16="http://schemas.microsoft.com/office/drawing/2014/main" id="{697B77F1-F26E-45E5-14BD-902C841CF1BF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20077" y="2833951"/>
              <a:ext cx="515931" cy="394353"/>
            </a:xfrm>
            <a:prstGeom prst="curvedConnector3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Conector curvado 76">
              <a:extLst>
                <a:ext uri="{FF2B5EF4-FFF2-40B4-BE49-F238E27FC236}">
                  <a16:creationId xmlns:a16="http://schemas.microsoft.com/office/drawing/2014/main" id="{71615EFF-DAC9-26C9-21FE-4F668ACC583C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7283" y="3547817"/>
              <a:ext cx="515931" cy="394353"/>
            </a:xfrm>
            <a:prstGeom prst="curvedConnector3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ector curvado 77">
              <a:extLst>
                <a:ext uri="{FF2B5EF4-FFF2-40B4-BE49-F238E27FC236}">
                  <a16:creationId xmlns:a16="http://schemas.microsoft.com/office/drawing/2014/main" id="{8C4C616E-66A0-9D17-0C07-F2234269BDF7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0821" y="4081939"/>
              <a:ext cx="515931" cy="394353"/>
            </a:xfrm>
            <a:prstGeom prst="curvedConnector3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ector curvado 78">
              <a:extLst>
                <a:ext uri="{FF2B5EF4-FFF2-40B4-BE49-F238E27FC236}">
                  <a16:creationId xmlns:a16="http://schemas.microsoft.com/office/drawing/2014/main" id="{7179EA55-1506-ABC1-DCBF-8605841797ED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7285" y="4613603"/>
              <a:ext cx="515931" cy="394353"/>
            </a:xfrm>
            <a:prstGeom prst="curvedConnector3">
              <a:avLst/>
            </a:prstGeom>
            <a:ln w="57150">
              <a:solidFill>
                <a:schemeClr val="accent3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Igual 79">
              <a:extLst>
                <a:ext uri="{FF2B5EF4-FFF2-40B4-BE49-F238E27FC236}">
                  <a16:creationId xmlns:a16="http://schemas.microsoft.com/office/drawing/2014/main" id="{DC7A78F4-5A3A-4B8B-EAB6-260C017495FD}"/>
                </a:ext>
              </a:extLst>
            </p:cNvPr>
            <p:cNvSpPr/>
            <p:nvPr/>
          </p:nvSpPr>
          <p:spPr>
            <a:xfrm>
              <a:off x="9149095" y="2817398"/>
              <a:ext cx="228506" cy="331934"/>
            </a:xfrm>
            <a:prstGeom prst="mathEqual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1" name="Igual 80">
              <a:extLst>
                <a:ext uri="{FF2B5EF4-FFF2-40B4-BE49-F238E27FC236}">
                  <a16:creationId xmlns:a16="http://schemas.microsoft.com/office/drawing/2014/main" id="{96B868FF-773B-F55E-2088-F8E694F04944}"/>
                </a:ext>
              </a:extLst>
            </p:cNvPr>
            <p:cNvSpPr/>
            <p:nvPr/>
          </p:nvSpPr>
          <p:spPr>
            <a:xfrm>
              <a:off x="9149095" y="3530232"/>
              <a:ext cx="228506" cy="331934"/>
            </a:xfrm>
            <a:prstGeom prst="mathEqual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2" name="Igual 81">
              <a:extLst>
                <a:ext uri="{FF2B5EF4-FFF2-40B4-BE49-F238E27FC236}">
                  <a16:creationId xmlns:a16="http://schemas.microsoft.com/office/drawing/2014/main" id="{81FD4433-67BA-15EE-7669-92322200AFEE}"/>
                </a:ext>
              </a:extLst>
            </p:cNvPr>
            <p:cNvSpPr/>
            <p:nvPr/>
          </p:nvSpPr>
          <p:spPr>
            <a:xfrm>
              <a:off x="9149095" y="4081372"/>
              <a:ext cx="228506" cy="331934"/>
            </a:xfrm>
            <a:prstGeom prst="mathEqual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3" name="Igual 82">
              <a:extLst>
                <a:ext uri="{FF2B5EF4-FFF2-40B4-BE49-F238E27FC236}">
                  <a16:creationId xmlns:a16="http://schemas.microsoft.com/office/drawing/2014/main" id="{094C1AB2-95AC-3453-D919-E7021465D6E8}"/>
                </a:ext>
              </a:extLst>
            </p:cNvPr>
            <p:cNvSpPr/>
            <p:nvPr/>
          </p:nvSpPr>
          <p:spPr>
            <a:xfrm>
              <a:off x="9149095" y="4590541"/>
              <a:ext cx="228506" cy="331934"/>
            </a:xfrm>
            <a:prstGeom prst="mathEqual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pic>
          <p:nvPicPr>
            <p:cNvPr id="86" name="Gráfico 85" descr="Germ contorno">
              <a:extLst>
                <a:ext uri="{FF2B5EF4-FFF2-40B4-BE49-F238E27FC236}">
                  <a16:creationId xmlns:a16="http://schemas.microsoft.com/office/drawing/2014/main" id="{E0B0024B-B3CB-BA47-15EA-6F64FA31B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32649" y="2687377"/>
              <a:ext cx="553694" cy="553694"/>
            </a:xfrm>
            <a:prstGeom prst="rect">
              <a:avLst/>
            </a:prstGeom>
          </p:spPr>
        </p:pic>
        <p:pic>
          <p:nvPicPr>
            <p:cNvPr id="88" name="Gráfico 87" descr="Germ contorno">
              <a:extLst>
                <a:ext uri="{FF2B5EF4-FFF2-40B4-BE49-F238E27FC236}">
                  <a16:creationId xmlns:a16="http://schemas.microsoft.com/office/drawing/2014/main" id="{F2E1F6EE-9492-7059-6567-5F4596348B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8701" y="3469795"/>
              <a:ext cx="417314" cy="473298"/>
            </a:xfrm>
            <a:prstGeom prst="rect">
              <a:avLst/>
            </a:prstGeom>
          </p:spPr>
        </p:pic>
        <p:pic>
          <p:nvPicPr>
            <p:cNvPr id="90" name="Gráfico 89" descr="Germ con relleno sólido">
              <a:extLst>
                <a:ext uri="{FF2B5EF4-FFF2-40B4-BE49-F238E27FC236}">
                  <a16:creationId xmlns:a16="http://schemas.microsoft.com/office/drawing/2014/main" id="{2D099D5E-D00D-C0F6-2814-3948513E62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79748" y="4083920"/>
              <a:ext cx="522419" cy="522419"/>
            </a:xfrm>
            <a:prstGeom prst="rect">
              <a:avLst/>
            </a:prstGeom>
          </p:spPr>
        </p:pic>
        <p:pic>
          <p:nvPicPr>
            <p:cNvPr id="92" name="Gráfico 91" descr="Germ con relleno sólido">
              <a:extLst>
                <a:ext uri="{FF2B5EF4-FFF2-40B4-BE49-F238E27FC236}">
                  <a16:creationId xmlns:a16="http://schemas.microsoft.com/office/drawing/2014/main" id="{DEFCC3CE-D76F-9193-B893-A8553DB313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701498">
              <a:off x="9657459" y="4651773"/>
              <a:ext cx="462288" cy="462288"/>
            </a:xfrm>
            <a:prstGeom prst="rect">
              <a:avLst/>
            </a:prstGeom>
          </p:spPr>
        </p:pic>
      </p:grpSp>
      <p:sp>
        <p:nvSpPr>
          <p:cNvPr id="94" name="Flecha derecha 93">
            <a:extLst>
              <a:ext uri="{FF2B5EF4-FFF2-40B4-BE49-F238E27FC236}">
                <a16:creationId xmlns:a16="http://schemas.microsoft.com/office/drawing/2014/main" id="{AA43E5DA-2790-151A-1252-F388F7009349}"/>
              </a:ext>
            </a:extLst>
          </p:cNvPr>
          <p:cNvSpPr/>
          <p:nvPr/>
        </p:nvSpPr>
        <p:spPr>
          <a:xfrm>
            <a:off x="2182091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5" name="Flecha derecha 94">
            <a:extLst>
              <a:ext uri="{FF2B5EF4-FFF2-40B4-BE49-F238E27FC236}">
                <a16:creationId xmlns:a16="http://schemas.microsoft.com/office/drawing/2014/main" id="{626FC48C-5A9A-295E-5855-8387FCF01B9A}"/>
              </a:ext>
            </a:extLst>
          </p:cNvPr>
          <p:cNvSpPr/>
          <p:nvPr/>
        </p:nvSpPr>
        <p:spPr>
          <a:xfrm>
            <a:off x="4557753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Flecha derecha 95">
            <a:extLst>
              <a:ext uri="{FF2B5EF4-FFF2-40B4-BE49-F238E27FC236}">
                <a16:creationId xmlns:a16="http://schemas.microsoft.com/office/drawing/2014/main" id="{2ED319B5-5ED8-AAA5-13DE-AAE5DC4C1A49}"/>
              </a:ext>
            </a:extLst>
          </p:cNvPr>
          <p:cNvSpPr/>
          <p:nvPr/>
        </p:nvSpPr>
        <p:spPr>
          <a:xfrm>
            <a:off x="6765441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7" name="Flecha derecha 96">
            <a:extLst>
              <a:ext uri="{FF2B5EF4-FFF2-40B4-BE49-F238E27FC236}">
                <a16:creationId xmlns:a16="http://schemas.microsoft.com/office/drawing/2014/main" id="{7EED27D1-783B-E14B-7666-AE493C1A2D43}"/>
              </a:ext>
            </a:extLst>
          </p:cNvPr>
          <p:cNvSpPr/>
          <p:nvPr/>
        </p:nvSpPr>
        <p:spPr>
          <a:xfrm>
            <a:off x="9052656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FFFE1CA-9799-F83E-0A74-546D4FC29ACE}"/>
              </a:ext>
            </a:extLst>
          </p:cNvPr>
          <p:cNvGrpSpPr/>
          <p:nvPr/>
        </p:nvGrpSpPr>
        <p:grpSpPr>
          <a:xfrm>
            <a:off x="9787826" y="3055630"/>
            <a:ext cx="1620864" cy="1760155"/>
            <a:chOff x="9787826" y="3065726"/>
            <a:chExt cx="1620864" cy="1760155"/>
          </a:xfrm>
        </p:grpSpPr>
        <p:cxnSp>
          <p:nvCxnSpPr>
            <p:cNvPr id="102" name="Conector recto de flecha 101">
              <a:extLst>
                <a:ext uri="{FF2B5EF4-FFF2-40B4-BE49-F238E27FC236}">
                  <a16:creationId xmlns:a16="http://schemas.microsoft.com/office/drawing/2014/main" id="{2FD85770-C88E-A735-75DE-CAD6F2970069}"/>
                </a:ext>
              </a:extLst>
            </p:cNvPr>
            <p:cNvCxnSpPr/>
            <p:nvPr/>
          </p:nvCxnSpPr>
          <p:spPr>
            <a:xfrm>
              <a:off x="9787826" y="3963180"/>
              <a:ext cx="1620864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1A749661-B733-3D58-403B-52714A872B15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258" y="3065726"/>
              <a:ext cx="0" cy="176015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ADE06F9D-AA69-729A-2505-39BE1938CC3C}"/>
                </a:ext>
              </a:extLst>
            </p:cNvPr>
            <p:cNvSpPr/>
            <p:nvPr/>
          </p:nvSpPr>
          <p:spPr>
            <a:xfrm>
              <a:off x="10991281" y="4246979"/>
              <a:ext cx="374112" cy="3701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98A76007-19A9-D937-F837-AC89D9EBA1D9}"/>
                </a:ext>
              </a:extLst>
            </p:cNvPr>
            <p:cNvSpPr/>
            <p:nvPr/>
          </p:nvSpPr>
          <p:spPr>
            <a:xfrm>
              <a:off x="10883001" y="3350365"/>
              <a:ext cx="374112" cy="37011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43F4EB19-AF17-9DC6-41A2-DA1206B96521}"/>
                </a:ext>
              </a:extLst>
            </p:cNvPr>
            <p:cNvSpPr/>
            <p:nvPr/>
          </p:nvSpPr>
          <p:spPr>
            <a:xfrm>
              <a:off x="10223420" y="4409883"/>
              <a:ext cx="374112" cy="370111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FBB38497-BC33-FBC3-F03F-EAF81EE9951A}"/>
                </a:ext>
              </a:extLst>
            </p:cNvPr>
            <p:cNvSpPr/>
            <p:nvPr/>
          </p:nvSpPr>
          <p:spPr>
            <a:xfrm>
              <a:off x="9858087" y="3993885"/>
              <a:ext cx="374112" cy="37011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8C0E0DB-80EB-115C-9E8F-98B8C4913037}"/>
              </a:ext>
            </a:extLst>
          </p:cNvPr>
          <p:cNvSpPr txBox="1"/>
          <p:nvPr/>
        </p:nvSpPr>
        <p:spPr>
          <a:xfrm>
            <a:off x="-8567" y="5722634"/>
            <a:ext cx="1815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/>
              <a:t>Secuencias / </a:t>
            </a:r>
            <a:r>
              <a:rPr lang="es-ES_tradnl" sz="1600" dirty="0" err="1"/>
              <a:t>fastq</a:t>
            </a:r>
            <a:endParaRPr lang="es-ES_tradnl" sz="1600" dirty="0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5584C44E-81EA-CBAE-29FB-059FED7A677E}"/>
              </a:ext>
            </a:extLst>
          </p:cNvPr>
          <p:cNvSpPr txBox="1"/>
          <p:nvPr/>
        </p:nvSpPr>
        <p:spPr>
          <a:xfrm>
            <a:off x="2222649" y="5463699"/>
            <a:ext cx="21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/>
              <a:t>Eliminación de </a:t>
            </a:r>
            <a:r>
              <a:rPr lang="es-ES_tradnl" sz="1600" dirty="0" err="1"/>
              <a:t>primers</a:t>
            </a:r>
            <a:r>
              <a:rPr lang="es-ES_tradnl" sz="1600" dirty="0"/>
              <a:t> /adaptadores</a:t>
            </a:r>
          </a:p>
          <a:p>
            <a:pPr algn="ctr"/>
            <a:r>
              <a:rPr lang="es-ES_tradnl" sz="1600" dirty="0"/>
              <a:t>Filtrado de calidad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D26E27C5-A174-AC17-7741-7CADFBB6901A}"/>
              </a:ext>
            </a:extLst>
          </p:cNvPr>
          <p:cNvSpPr txBox="1"/>
          <p:nvPr/>
        </p:nvSpPr>
        <p:spPr>
          <a:xfrm>
            <a:off x="4624450" y="5463698"/>
            <a:ext cx="21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 err="1"/>
              <a:t>Denoising</a:t>
            </a:r>
            <a:r>
              <a:rPr lang="es-ES_tradnl" sz="1600" dirty="0"/>
              <a:t> </a:t>
            </a:r>
          </a:p>
          <a:p>
            <a:pPr algn="ctr"/>
            <a:r>
              <a:rPr lang="es-ES_tradnl" sz="1600" dirty="0"/>
              <a:t>Inferencia de variantes de secuencias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55284126-15B7-43DB-312B-901EB3C3D98A}"/>
              </a:ext>
            </a:extLst>
          </p:cNvPr>
          <p:cNvSpPr txBox="1"/>
          <p:nvPr/>
        </p:nvSpPr>
        <p:spPr>
          <a:xfrm>
            <a:off x="6942261" y="5584411"/>
            <a:ext cx="2180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/>
              <a:t>Clasificación taxonómica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A423AE64-F31B-97F1-ACD6-C2F00DE4B54A}"/>
              </a:ext>
            </a:extLst>
          </p:cNvPr>
          <p:cNvSpPr txBox="1"/>
          <p:nvPr/>
        </p:nvSpPr>
        <p:spPr>
          <a:xfrm>
            <a:off x="9369066" y="5707521"/>
            <a:ext cx="2180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/>
              <a:t>Análisis ecológicos</a:t>
            </a:r>
          </a:p>
        </p:txBody>
      </p:sp>
    </p:spTree>
    <p:extLst>
      <p:ext uri="{BB962C8B-B14F-4D97-AF65-F5344CB8AC3E}">
        <p14:creationId xmlns:p14="http://schemas.microsoft.com/office/powerpoint/2010/main" val="26027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1A81-A987-4332-0C12-6EE91E09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3AD82-1E0C-DB73-F970-7D2751A1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b="1" dirty="0"/>
              <a:t>Flujo de trabajo para el análisis de datos de secuenciación de microbiomas (amplicones)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32D34CC-97E0-4D73-1E20-76E705AF38A0}"/>
              </a:ext>
            </a:extLst>
          </p:cNvPr>
          <p:cNvGrpSpPr/>
          <p:nvPr/>
        </p:nvGrpSpPr>
        <p:grpSpPr>
          <a:xfrm rot="18559395">
            <a:off x="472518" y="3217703"/>
            <a:ext cx="1282219" cy="1436008"/>
            <a:chOff x="1358722" y="2822958"/>
            <a:chExt cx="2162578" cy="1977642"/>
          </a:xfrm>
        </p:grpSpPr>
        <p:cxnSp>
          <p:nvCxnSpPr>
            <p:cNvPr id="6" name="Conector curvado 5">
              <a:extLst>
                <a:ext uri="{FF2B5EF4-FFF2-40B4-BE49-F238E27FC236}">
                  <a16:creationId xmlns:a16="http://schemas.microsoft.com/office/drawing/2014/main" id="{87ADDDAF-C957-C51B-C506-FD47993234C4}"/>
                </a:ext>
              </a:extLst>
            </p:cNvPr>
            <p:cNvCxnSpPr>
              <a:cxnSpLocks/>
            </p:cNvCxnSpPr>
            <p:nvPr/>
          </p:nvCxnSpPr>
          <p:spPr>
            <a:xfrm>
              <a:off x="1358722" y="2971800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ector curvado 6">
              <a:extLst>
                <a:ext uri="{FF2B5EF4-FFF2-40B4-BE49-F238E27FC236}">
                  <a16:creationId xmlns:a16="http://schemas.microsoft.com/office/drawing/2014/main" id="{6731F670-F305-FB91-52C0-2687A43597AF}"/>
                </a:ext>
              </a:extLst>
            </p:cNvPr>
            <p:cNvCxnSpPr/>
            <p:nvPr/>
          </p:nvCxnSpPr>
          <p:spPr>
            <a:xfrm>
              <a:off x="2440011" y="3886200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ector curvado 7">
              <a:extLst>
                <a:ext uri="{FF2B5EF4-FFF2-40B4-BE49-F238E27FC236}">
                  <a16:creationId xmlns:a16="http://schemas.microsoft.com/office/drawing/2014/main" id="{3F64D9EF-69BD-3653-997B-76FF543E3116}"/>
                </a:ext>
              </a:extLst>
            </p:cNvPr>
            <p:cNvCxnSpPr/>
            <p:nvPr/>
          </p:nvCxnSpPr>
          <p:spPr>
            <a:xfrm>
              <a:off x="1601811" y="2822958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curvado 8">
              <a:extLst>
                <a:ext uri="{FF2B5EF4-FFF2-40B4-BE49-F238E27FC236}">
                  <a16:creationId xmlns:a16="http://schemas.microsoft.com/office/drawing/2014/main" id="{7990C37F-7A77-A710-8593-A53F2D05F275}"/>
                </a:ext>
              </a:extLst>
            </p:cNvPr>
            <p:cNvCxnSpPr/>
            <p:nvPr/>
          </p:nvCxnSpPr>
          <p:spPr>
            <a:xfrm>
              <a:off x="2606900" y="3085676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curvado 9">
              <a:extLst>
                <a:ext uri="{FF2B5EF4-FFF2-40B4-BE49-F238E27FC236}">
                  <a16:creationId xmlns:a16="http://schemas.microsoft.com/office/drawing/2014/main" id="{12DD4F7C-F452-5BEA-96C8-D8DEB09BFF32}"/>
                </a:ext>
              </a:extLst>
            </p:cNvPr>
            <p:cNvCxnSpPr/>
            <p:nvPr/>
          </p:nvCxnSpPr>
          <p:spPr>
            <a:xfrm>
              <a:off x="2273122" y="3252141"/>
              <a:ext cx="914400" cy="914400"/>
            </a:xfrm>
            <a:prstGeom prst="curvedConnector3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721C12F-B11B-3709-7C9A-D49A1FA5BD15}"/>
              </a:ext>
            </a:extLst>
          </p:cNvPr>
          <p:cNvGrpSpPr/>
          <p:nvPr/>
        </p:nvGrpSpPr>
        <p:grpSpPr>
          <a:xfrm>
            <a:off x="2498501" y="3214830"/>
            <a:ext cx="1715666" cy="1441755"/>
            <a:chOff x="2142660" y="2772204"/>
            <a:chExt cx="2354843" cy="1760481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4D7F88A-EFA1-A3F6-0D61-DDC31DE0B78F}"/>
                </a:ext>
              </a:extLst>
            </p:cNvPr>
            <p:cNvGrpSpPr/>
            <p:nvPr/>
          </p:nvGrpSpPr>
          <p:grpSpPr>
            <a:xfrm>
              <a:off x="2264796" y="2998234"/>
              <a:ext cx="2232707" cy="1534451"/>
              <a:chOff x="2264796" y="2998234"/>
              <a:chExt cx="2232707" cy="1534451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240BB697-52E6-5490-225D-63DA8341750A}"/>
                  </a:ext>
                </a:extLst>
              </p:cNvPr>
              <p:cNvGrpSpPr/>
              <p:nvPr/>
            </p:nvGrpSpPr>
            <p:grpSpPr>
              <a:xfrm>
                <a:off x="2264796" y="3515164"/>
                <a:ext cx="2104806" cy="693855"/>
                <a:chOff x="2223910" y="3656607"/>
                <a:chExt cx="2104806" cy="693855"/>
              </a:xfrm>
            </p:grpSpPr>
            <p:cxnSp>
              <p:nvCxnSpPr>
                <p:cNvPr id="16" name="Conector curvado 15">
                  <a:extLst>
                    <a:ext uri="{FF2B5EF4-FFF2-40B4-BE49-F238E27FC236}">
                      <a16:creationId xmlns:a16="http://schemas.microsoft.com/office/drawing/2014/main" id="{596D0D2D-0AF1-1BED-87BD-F98453B61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23910" y="4072597"/>
                  <a:ext cx="489935" cy="87540"/>
                </a:xfrm>
                <a:prstGeom prst="curvedConnector3">
                  <a:avLst>
                    <a:gd name="adj1" fmla="val 47372"/>
                  </a:avLst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ector curvado 17">
                  <a:extLst>
                    <a:ext uri="{FF2B5EF4-FFF2-40B4-BE49-F238E27FC236}">
                      <a16:creationId xmlns:a16="http://schemas.microsoft.com/office/drawing/2014/main" id="{59C76BDE-B4D0-EB9C-C025-518D27FB113E}"/>
                    </a:ext>
                  </a:extLst>
                </p:cNvPr>
                <p:cNvCxnSpPr/>
                <p:nvPr/>
              </p:nvCxnSpPr>
              <p:spPr>
                <a:xfrm rot="18559395">
                  <a:off x="2910605" y="3626150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curvado 20">
                  <a:extLst>
                    <a:ext uri="{FF2B5EF4-FFF2-40B4-BE49-F238E27FC236}">
                      <a16:creationId xmlns:a16="http://schemas.microsoft.com/office/drawing/2014/main" id="{A19FA25C-82BD-4349-A72C-4A16422E0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38781" y="38274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A1D050F4-99F0-E8B6-9BC8-9238E2992CEC}"/>
                  </a:ext>
                </a:extLst>
              </p:cNvPr>
              <p:cNvGrpSpPr/>
              <p:nvPr/>
            </p:nvGrpSpPr>
            <p:grpSpPr>
              <a:xfrm>
                <a:off x="2296574" y="3838830"/>
                <a:ext cx="2172114" cy="693855"/>
                <a:chOff x="2410155" y="4552391"/>
                <a:chExt cx="2172114" cy="693855"/>
              </a:xfrm>
            </p:grpSpPr>
            <p:cxnSp>
              <p:nvCxnSpPr>
                <p:cNvPr id="15" name="Conector curvado 14">
                  <a:extLst>
                    <a:ext uri="{FF2B5EF4-FFF2-40B4-BE49-F238E27FC236}">
                      <a16:creationId xmlns:a16="http://schemas.microsoft.com/office/drawing/2014/main" id="{D09730A3-9397-9308-05EB-10315E9B1D51}"/>
                    </a:ext>
                  </a:extLst>
                </p:cNvPr>
                <p:cNvCxnSpPr/>
                <p:nvPr/>
              </p:nvCxnSpPr>
              <p:spPr>
                <a:xfrm rot="18559395">
                  <a:off x="3124964" y="4521934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ector curvado 24">
                  <a:extLst>
                    <a:ext uri="{FF2B5EF4-FFF2-40B4-BE49-F238E27FC236}">
                      <a16:creationId xmlns:a16="http://schemas.microsoft.com/office/drawing/2014/main" id="{9BEF7242-539D-B791-8E0A-6BFFBC6A1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43693" y="4748873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ector curvado 26">
                  <a:extLst>
                    <a:ext uri="{FF2B5EF4-FFF2-40B4-BE49-F238E27FC236}">
                      <a16:creationId xmlns:a16="http://schemas.microsoft.com/office/drawing/2014/main" id="{5042D5A9-F818-E9A6-9EF6-E24B7CE248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10155" y="4956336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6CDFD52A-B6F6-0002-A28C-B108B5896D09}"/>
                  </a:ext>
                </a:extLst>
              </p:cNvPr>
              <p:cNvGrpSpPr/>
              <p:nvPr/>
            </p:nvGrpSpPr>
            <p:grpSpPr>
              <a:xfrm>
                <a:off x="2264796" y="2998234"/>
                <a:ext cx="2229744" cy="693855"/>
                <a:chOff x="2352525" y="3046702"/>
                <a:chExt cx="2229744" cy="693855"/>
              </a:xfrm>
            </p:grpSpPr>
            <p:cxnSp>
              <p:nvCxnSpPr>
                <p:cNvPr id="14" name="Conector curvado 13">
                  <a:extLst>
                    <a:ext uri="{FF2B5EF4-FFF2-40B4-BE49-F238E27FC236}">
                      <a16:creationId xmlns:a16="http://schemas.microsoft.com/office/drawing/2014/main" id="{886DF523-CE58-DEC5-DA49-79BBA779A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52525" y="3452240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Conector curvado 16">
                  <a:extLst>
                    <a:ext uri="{FF2B5EF4-FFF2-40B4-BE49-F238E27FC236}">
                      <a16:creationId xmlns:a16="http://schemas.microsoft.com/office/drawing/2014/main" id="{83D513B1-5792-383A-D5EB-2CA979C6E096}"/>
                    </a:ext>
                  </a:extLst>
                </p:cNvPr>
                <p:cNvCxnSpPr/>
                <p:nvPr/>
              </p:nvCxnSpPr>
              <p:spPr>
                <a:xfrm rot="18559395">
                  <a:off x="3123433" y="3016245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chemeClr val="accent3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ector curvado 27">
                  <a:extLst>
                    <a:ext uri="{FF2B5EF4-FFF2-40B4-BE49-F238E27FC236}">
                      <a16:creationId xmlns:a16="http://schemas.microsoft.com/office/drawing/2014/main" id="{747D03ED-D7BC-7EA4-1DAF-4653CE0BD4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92334" y="32983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8C796488-F050-428C-9620-512623C301DD}"/>
                  </a:ext>
                </a:extLst>
              </p:cNvPr>
              <p:cNvGrpSpPr/>
              <p:nvPr/>
            </p:nvGrpSpPr>
            <p:grpSpPr>
              <a:xfrm>
                <a:off x="2267759" y="3228076"/>
                <a:ext cx="2229744" cy="693855"/>
                <a:chOff x="2352525" y="3046702"/>
                <a:chExt cx="2229744" cy="693855"/>
              </a:xfrm>
            </p:grpSpPr>
            <p:cxnSp>
              <p:nvCxnSpPr>
                <p:cNvPr id="33" name="Conector curvado 32">
                  <a:extLst>
                    <a:ext uri="{FF2B5EF4-FFF2-40B4-BE49-F238E27FC236}">
                      <a16:creationId xmlns:a16="http://schemas.microsoft.com/office/drawing/2014/main" id="{8825B1E0-A1EE-272D-EDD3-3055DF37A3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52525" y="3452240"/>
                  <a:ext cx="538576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curvado 33">
                  <a:extLst>
                    <a:ext uri="{FF2B5EF4-FFF2-40B4-BE49-F238E27FC236}">
                      <a16:creationId xmlns:a16="http://schemas.microsoft.com/office/drawing/2014/main" id="{154D09DD-CD09-C2FF-B3C4-60FB72423BF8}"/>
                    </a:ext>
                  </a:extLst>
                </p:cNvPr>
                <p:cNvCxnSpPr/>
                <p:nvPr/>
              </p:nvCxnSpPr>
              <p:spPr>
                <a:xfrm rot="18559395">
                  <a:off x="3123433" y="3016245"/>
                  <a:ext cx="693855" cy="754769"/>
                </a:xfrm>
                <a:prstGeom prst="curvedConnector3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curvado 34">
                  <a:extLst>
                    <a:ext uri="{FF2B5EF4-FFF2-40B4-BE49-F238E27FC236}">
                      <a16:creationId xmlns:a16="http://schemas.microsoft.com/office/drawing/2014/main" id="{9415F748-8D40-9A4E-BD5B-0F564F883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92334" y="3298333"/>
                  <a:ext cx="489935" cy="87540"/>
                </a:xfrm>
                <a:prstGeom prst="curvedConnector3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A8005E81-6073-8DC3-423D-583F0187127E}"/>
                </a:ext>
              </a:extLst>
            </p:cNvPr>
            <p:cNvGrpSpPr/>
            <p:nvPr/>
          </p:nvGrpSpPr>
          <p:grpSpPr>
            <a:xfrm>
              <a:off x="2142660" y="2772204"/>
              <a:ext cx="2229744" cy="693855"/>
              <a:chOff x="2352525" y="3046702"/>
              <a:chExt cx="2229744" cy="693855"/>
            </a:xfrm>
          </p:grpSpPr>
          <p:cxnSp>
            <p:nvCxnSpPr>
              <p:cNvPr id="37" name="Conector curvado 36">
                <a:extLst>
                  <a:ext uri="{FF2B5EF4-FFF2-40B4-BE49-F238E27FC236}">
                    <a16:creationId xmlns:a16="http://schemas.microsoft.com/office/drawing/2014/main" id="{DAD18CD5-DA28-67F5-2616-88A19EB38B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52525" y="3452240"/>
                <a:ext cx="538576" cy="87540"/>
              </a:xfrm>
              <a:prstGeom prst="curvedConnector3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ector curvado 37">
                <a:extLst>
                  <a:ext uri="{FF2B5EF4-FFF2-40B4-BE49-F238E27FC236}">
                    <a16:creationId xmlns:a16="http://schemas.microsoft.com/office/drawing/2014/main" id="{6D8890C4-A180-E0EA-4161-82D6E76F0049}"/>
                  </a:ext>
                </a:extLst>
              </p:cNvPr>
              <p:cNvCxnSpPr/>
              <p:nvPr/>
            </p:nvCxnSpPr>
            <p:spPr>
              <a:xfrm rot="18559395">
                <a:off x="3123433" y="3016245"/>
                <a:ext cx="693855" cy="754769"/>
              </a:xfrm>
              <a:prstGeom prst="curvedConnector3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Conector curvado 38">
                <a:extLst>
                  <a:ext uri="{FF2B5EF4-FFF2-40B4-BE49-F238E27FC236}">
                    <a16:creationId xmlns:a16="http://schemas.microsoft.com/office/drawing/2014/main" id="{890EC3F4-420A-F8F7-3A71-A8E1461E07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92334" y="3298333"/>
                <a:ext cx="489935" cy="87540"/>
              </a:xfrm>
              <a:prstGeom prst="curvedConnector3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27BAE334-5377-3288-A31A-9B1F02B1E8C1}"/>
              </a:ext>
            </a:extLst>
          </p:cNvPr>
          <p:cNvGrpSpPr/>
          <p:nvPr/>
        </p:nvGrpSpPr>
        <p:grpSpPr>
          <a:xfrm>
            <a:off x="5054862" y="2740169"/>
            <a:ext cx="1312833" cy="2391077"/>
            <a:chOff x="4958707" y="2210890"/>
            <a:chExt cx="2098100" cy="2993952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054F80DC-7A42-7625-CCE2-9614088A5091}"/>
                </a:ext>
              </a:extLst>
            </p:cNvPr>
            <p:cNvGrpSpPr/>
            <p:nvPr/>
          </p:nvGrpSpPr>
          <p:grpSpPr>
            <a:xfrm>
              <a:off x="5155604" y="2210890"/>
              <a:ext cx="785484" cy="1325563"/>
              <a:chOff x="5155603" y="2076504"/>
              <a:chExt cx="1095311" cy="1459949"/>
            </a:xfrm>
          </p:grpSpPr>
          <p:cxnSp>
            <p:nvCxnSpPr>
              <p:cNvPr id="42" name="Conector curvado 41">
                <a:extLst>
                  <a:ext uri="{FF2B5EF4-FFF2-40B4-BE49-F238E27FC236}">
                    <a16:creationId xmlns:a16="http://schemas.microsoft.com/office/drawing/2014/main" id="{1944087D-BE97-6406-2419-D468EFB64593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Conector curvado 42">
                <a:extLst>
                  <a:ext uri="{FF2B5EF4-FFF2-40B4-BE49-F238E27FC236}">
                    <a16:creationId xmlns:a16="http://schemas.microsoft.com/office/drawing/2014/main" id="{197555BA-617F-A9E6-D116-BD610A835DC4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Conector curvado 43">
                <a:extLst>
                  <a:ext uri="{FF2B5EF4-FFF2-40B4-BE49-F238E27FC236}">
                    <a16:creationId xmlns:a16="http://schemas.microsoft.com/office/drawing/2014/main" id="{7EABBB92-356E-7600-C53C-C418D400DBDA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de flecha 49">
                <a:extLst>
                  <a:ext uri="{FF2B5EF4-FFF2-40B4-BE49-F238E27FC236}">
                    <a16:creationId xmlns:a16="http://schemas.microsoft.com/office/drawing/2014/main" id="{9227B3CF-6A00-01EC-1262-CBA066DD5A57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5B688EC4-093A-FD01-48E7-327CBD62BC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799CAF75-AF34-3C56-112D-CD01F5CE6FE4}"/>
                </a:ext>
              </a:extLst>
            </p:cNvPr>
            <p:cNvGrpSpPr/>
            <p:nvPr/>
          </p:nvGrpSpPr>
          <p:grpSpPr>
            <a:xfrm>
              <a:off x="6271323" y="2605391"/>
              <a:ext cx="785484" cy="1325563"/>
              <a:chOff x="5155603" y="2076504"/>
              <a:chExt cx="1095311" cy="1459949"/>
            </a:xfrm>
          </p:grpSpPr>
          <p:cxnSp>
            <p:nvCxnSpPr>
              <p:cNvPr id="57" name="Conector curvado 56">
                <a:extLst>
                  <a:ext uri="{FF2B5EF4-FFF2-40B4-BE49-F238E27FC236}">
                    <a16:creationId xmlns:a16="http://schemas.microsoft.com/office/drawing/2014/main" id="{2D3B759E-CC35-BA23-165A-22BDD1CA9CFC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Conector curvado 57">
                <a:extLst>
                  <a:ext uri="{FF2B5EF4-FFF2-40B4-BE49-F238E27FC236}">
                    <a16:creationId xmlns:a16="http://schemas.microsoft.com/office/drawing/2014/main" id="{661F11CD-E238-9BE1-69B6-CDE09B30AB85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Conector curvado 58">
                <a:extLst>
                  <a:ext uri="{FF2B5EF4-FFF2-40B4-BE49-F238E27FC236}">
                    <a16:creationId xmlns:a16="http://schemas.microsoft.com/office/drawing/2014/main" id="{DFCBE941-2A0F-A117-71C3-E367CA38BE2D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3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de flecha 59">
                <a:extLst>
                  <a:ext uri="{FF2B5EF4-FFF2-40B4-BE49-F238E27FC236}">
                    <a16:creationId xmlns:a16="http://schemas.microsoft.com/office/drawing/2014/main" id="{213D96CC-7877-EE7E-1185-83BC62CA3A9E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de flecha 60">
                <a:extLst>
                  <a:ext uri="{FF2B5EF4-FFF2-40B4-BE49-F238E27FC236}">
                    <a16:creationId xmlns:a16="http://schemas.microsoft.com/office/drawing/2014/main" id="{E92D613F-D79A-0F70-F1FD-4E3DFAF3D0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12D5D5C9-714E-D3B5-7A2C-FA2B5471DCBF}"/>
                </a:ext>
              </a:extLst>
            </p:cNvPr>
            <p:cNvGrpSpPr/>
            <p:nvPr/>
          </p:nvGrpSpPr>
          <p:grpSpPr>
            <a:xfrm>
              <a:off x="6185240" y="3879279"/>
              <a:ext cx="785484" cy="1325563"/>
              <a:chOff x="5155603" y="2076504"/>
              <a:chExt cx="1095311" cy="1459949"/>
            </a:xfrm>
          </p:grpSpPr>
          <p:cxnSp>
            <p:nvCxnSpPr>
              <p:cNvPr id="63" name="Conector curvado 62">
                <a:extLst>
                  <a:ext uri="{FF2B5EF4-FFF2-40B4-BE49-F238E27FC236}">
                    <a16:creationId xmlns:a16="http://schemas.microsoft.com/office/drawing/2014/main" id="{8982DFB4-4628-2E3A-2067-7F28D4E5B8F9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Conector curvado 63">
                <a:extLst>
                  <a:ext uri="{FF2B5EF4-FFF2-40B4-BE49-F238E27FC236}">
                    <a16:creationId xmlns:a16="http://schemas.microsoft.com/office/drawing/2014/main" id="{09D51971-E9EB-D9D7-F3DB-748724930C2E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Conector curvado 64">
                <a:extLst>
                  <a:ext uri="{FF2B5EF4-FFF2-40B4-BE49-F238E27FC236}">
                    <a16:creationId xmlns:a16="http://schemas.microsoft.com/office/drawing/2014/main" id="{C593DEDA-4D93-8DF5-5459-3B9BAF635414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de flecha 65">
                <a:extLst>
                  <a:ext uri="{FF2B5EF4-FFF2-40B4-BE49-F238E27FC236}">
                    <a16:creationId xmlns:a16="http://schemas.microsoft.com/office/drawing/2014/main" id="{6B5964B1-9C08-5FAA-EF27-8539189086C9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de flecha 66">
                <a:extLst>
                  <a:ext uri="{FF2B5EF4-FFF2-40B4-BE49-F238E27FC236}">
                    <a16:creationId xmlns:a16="http://schemas.microsoft.com/office/drawing/2014/main" id="{85693EFD-23B1-7D09-7AD9-76ABB6E7BE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4CD7EEA2-2828-C779-419B-A177E23535F4}"/>
                </a:ext>
              </a:extLst>
            </p:cNvPr>
            <p:cNvGrpSpPr/>
            <p:nvPr/>
          </p:nvGrpSpPr>
          <p:grpSpPr>
            <a:xfrm>
              <a:off x="4958707" y="3823608"/>
              <a:ext cx="785484" cy="1325563"/>
              <a:chOff x="5155603" y="2076504"/>
              <a:chExt cx="1095311" cy="1459949"/>
            </a:xfrm>
          </p:grpSpPr>
          <p:cxnSp>
            <p:nvCxnSpPr>
              <p:cNvPr id="69" name="Conector curvado 68">
                <a:extLst>
                  <a:ext uri="{FF2B5EF4-FFF2-40B4-BE49-F238E27FC236}">
                    <a16:creationId xmlns:a16="http://schemas.microsoft.com/office/drawing/2014/main" id="{4D7599FB-2C3C-A44D-D646-E0973FF48FAD}"/>
                  </a:ext>
                </a:extLst>
              </p:cNvPr>
              <p:cNvCxnSpPr/>
              <p:nvPr/>
            </p:nvCxnSpPr>
            <p:spPr>
              <a:xfrm rot="18559395">
                <a:off x="5563795" y="2977384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Conector curvado 69">
                <a:extLst>
                  <a:ext uri="{FF2B5EF4-FFF2-40B4-BE49-F238E27FC236}">
                    <a16:creationId xmlns:a16="http://schemas.microsoft.com/office/drawing/2014/main" id="{C44F6639-3555-0303-3C2B-B09AF359306A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691845" y="2085671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Conector curvado 70">
                <a:extLst>
                  <a:ext uri="{FF2B5EF4-FFF2-40B4-BE49-F238E27FC236}">
                    <a16:creationId xmlns:a16="http://schemas.microsoft.com/office/drawing/2014/main" id="{61DD1971-C7CC-01FC-5629-46FF8D0E847B}"/>
                  </a:ext>
                </a:extLst>
              </p:cNvPr>
              <p:cNvCxnSpPr>
                <a:cxnSpLocks/>
              </p:cNvCxnSpPr>
              <p:nvPr/>
            </p:nvCxnSpPr>
            <p:spPr>
              <a:xfrm rot="18559395">
                <a:off x="5146436" y="2521893"/>
                <a:ext cx="568236" cy="549902"/>
              </a:xfrm>
              <a:prstGeom prst="curvedConnector3">
                <a:avLst/>
              </a:prstGeom>
              <a:ln w="571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C3B4F679-0533-6985-5182-190E2A98C26B}"/>
                  </a:ext>
                </a:extLst>
              </p:cNvPr>
              <p:cNvCxnSpPr/>
              <p:nvPr/>
            </p:nvCxnSpPr>
            <p:spPr>
              <a:xfrm flipH="1">
                <a:off x="5583221" y="2402820"/>
                <a:ext cx="240075" cy="3518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de flecha 72">
                <a:extLst>
                  <a:ext uri="{FF2B5EF4-FFF2-40B4-BE49-F238E27FC236}">
                    <a16:creationId xmlns:a16="http://schemas.microsoft.com/office/drawing/2014/main" id="{A03B5EA6-91C0-C8C3-0C8E-F92AA60381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03258" y="3005761"/>
                <a:ext cx="272705" cy="2079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319A2794-3FC5-9115-258C-D31C579417BE}"/>
              </a:ext>
            </a:extLst>
          </p:cNvPr>
          <p:cNvGrpSpPr/>
          <p:nvPr/>
        </p:nvGrpSpPr>
        <p:grpSpPr>
          <a:xfrm>
            <a:off x="7563651" y="3131627"/>
            <a:ext cx="1111619" cy="1608161"/>
            <a:chOff x="8380866" y="2687377"/>
            <a:chExt cx="1821301" cy="2426684"/>
          </a:xfrm>
        </p:grpSpPr>
        <p:cxnSp>
          <p:nvCxnSpPr>
            <p:cNvPr id="76" name="Conector curvado 75">
              <a:extLst>
                <a:ext uri="{FF2B5EF4-FFF2-40B4-BE49-F238E27FC236}">
                  <a16:creationId xmlns:a16="http://schemas.microsoft.com/office/drawing/2014/main" id="{360F06AC-FEED-6F01-4832-4D975FDFA62B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20077" y="2833951"/>
              <a:ext cx="515931" cy="394353"/>
            </a:xfrm>
            <a:prstGeom prst="curvedConnector3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Conector curvado 76">
              <a:extLst>
                <a:ext uri="{FF2B5EF4-FFF2-40B4-BE49-F238E27FC236}">
                  <a16:creationId xmlns:a16="http://schemas.microsoft.com/office/drawing/2014/main" id="{CB14F2E7-E89A-822F-670B-C69B2E04317E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7283" y="3547817"/>
              <a:ext cx="515931" cy="394353"/>
            </a:xfrm>
            <a:prstGeom prst="curvedConnector3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ector curvado 77">
              <a:extLst>
                <a:ext uri="{FF2B5EF4-FFF2-40B4-BE49-F238E27FC236}">
                  <a16:creationId xmlns:a16="http://schemas.microsoft.com/office/drawing/2014/main" id="{7668908D-3F8A-29E8-65CD-54CB6E3F6644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0821" y="4081939"/>
              <a:ext cx="515931" cy="394353"/>
            </a:xfrm>
            <a:prstGeom prst="curvedConnector3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ector curvado 78">
              <a:extLst>
                <a:ext uri="{FF2B5EF4-FFF2-40B4-BE49-F238E27FC236}">
                  <a16:creationId xmlns:a16="http://schemas.microsoft.com/office/drawing/2014/main" id="{0A4AEC7F-B201-9406-E761-F74EC56C23F0}"/>
                </a:ext>
              </a:extLst>
            </p:cNvPr>
            <p:cNvCxnSpPr>
              <a:cxnSpLocks/>
            </p:cNvCxnSpPr>
            <p:nvPr/>
          </p:nvCxnSpPr>
          <p:spPr>
            <a:xfrm rot="18559395">
              <a:off x="8357285" y="4613603"/>
              <a:ext cx="515931" cy="394353"/>
            </a:xfrm>
            <a:prstGeom prst="curvedConnector3">
              <a:avLst/>
            </a:prstGeom>
            <a:ln w="57150">
              <a:solidFill>
                <a:schemeClr val="accent3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Igual 79">
              <a:extLst>
                <a:ext uri="{FF2B5EF4-FFF2-40B4-BE49-F238E27FC236}">
                  <a16:creationId xmlns:a16="http://schemas.microsoft.com/office/drawing/2014/main" id="{E3F75660-9414-441F-AE8C-EF33F034EE81}"/>
                </a:ext>
              </a:extLst>
            </p:cNvPr>
            <p:cNvSpPr/>
            <p:nvPr/>
          </p:nvSpPr>
          <p:spPr>
            <a:xfrm>
              <a:off x="9149095" y="2817398"/>
              <a:ext cx="228506" cy="331934"/>
            </a:xfrm>
            <a:prstGeom prst="mathEqual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1" name="Igual 80">
              <a:extLst>
                <a:ext uri="{FF2B5EF4-FFF2-40B4-BE49-F238E27FC236}">
                  <a16:creationId xmlns:a16="http://schemas.microsoft.com/office/drawing/2014/main" id="{376FE010-5489-1A35-CC1B-73C6732FA19D}"/>
                </a:ext>
              </a:extLst>
            </p:cNvPr>
            <p:cNvSpPr/>
            <p:nvPr/>
          </p:nvSpPr>
          <p:spPr>
            <a:xfrm>
              <a:off x="9149095" y="3530232"/>
              <a:ext cx="228506" cy="331934"/>
            </a:xfrm>
            <a:prstGeom prst="mathEqual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2" name="Igual 81">
              <a:extLst>
                <a:ext uri="{FF2B5EF4-FFF2-40B4-BE49-F238E27FC236}">
                  <a16:creationId xmlns:a16="http://schemas.microsoft.com/office/drawing/2014/main" id="{FAC6C352-734B-7718-B7F5-17B7D0AA4DA7}"/>
                </a:ext>
              </a:extLst>
            </p:cNvPr>
            <p:cNvSpPr/>
            <p:nvPr/>
          </p:nvSpPr>
          <p:spPr>
            <a:xfrm>
              <a:off x="9149095" y="4081372"/>
              <a:ext cx="228506" cy="331934"/>
            </a:xfrm>
            <a:prstGeom prst="mathEqual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83" name="Igual 82">
              <a:extLst>
                <a:ext uri="{FF2B5EF4-FFF2-40B4-BE49-F238E27FC236}">
                  <a16:creationId xmlns:a16="http://schemas.microsoft.com/office/drawing/2014/main" id="{E4232EBE-DA1F-75EF-9901-2DBE3C778931}"/>
                </a:ext>
              </a:extLst>
            </p:cNvPr>
            <p:cNvSpPr/>
            <p:nvPr/>
          </p:nvSpPr>
          <p:spPr>
            <a:xfrm>
              <a:off x="9149095" y="4590541"/>
              <a:ext cx="228506" cy="331934"/>
            </a:xfrm>
            <a:prstGeom prst="mathEqual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>
                <a:solidFill>
                  <a:schemeClr val="tx1"/>
                </a:solidFill>
              </a:endParaRPr>
            </a:p>
          </p:txBody>
        </p:sp>
        <p:pic>
          <p:nvPicPr>
            <p:cNvPr id="86" name="Gráfico 85" descr="Germ contorno">
              <a:extLst>
                <a:ext uri="{FF2B5EF4-FFF2-40B4-BE49-F238E27FC236}">
                  <a16:creationId xmlns:a16="http://schemas.microsoft.com/office/drawing/2014/main" id="{3B10A1F5-147F-2B61-6211-3C6B9C0373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32649" y="2687377"/>
              <a:ext cx="553694" cy="553694"/>
            </a:xfrm>
            <a:prstGeom prst="rect">
              <a:avLst/>
            </a:prstGeom>
          </p:spPr>
        </p:pic>
        <p:pic>
          <p:nvPicPr>
            <p:cNvPr id="88" name="Gráfico 87" descr="Germ contorno">
              <a:extLst>
                <a:ext uri="{FF2B5EF4-FFF2-40B4-BE49-F238E27FC236}">
                  <a16:creationId xmlns:a16="http://schemas.microsoft.com/office/drawing/2014/main" id="{01731714-00AE-45D7-88C2-EA2F7987C1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8701" y="3469795"/>
              <a:ext cx="417314" cy="473298"/>
            </a:xfrm>
            <a:prstGeom prst="rect">
              <a:avLst/>
            </a:prstGeom>
          </p:spPr>
        </p:pic>
        <p:pic>
          <p:nvPicPr>
            <p:cNvPr id="90" name="Gráfico 89" descr="Germ con relleno sólido">
              <a:extLst>
                <a:ext uri="{FF2B5EF4-FFF2-40B4-BE49-F238E27FC236}">
                  <a16:creationId xmlns:a16="http://schemas.microsoft.com/office/drawing/2014/main" id="{7ED5AFC9-05C2-092B-CBF9-97C502B7C8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79748" y="4083920"/>
              <a:ext cx="522419" cy="522419"/>
            </a:xfrm>
            <a:prstGeom prst="rect">
              <a:avLst/>
            </a:prstGeom>
          </p:spPr>
        </p:pic>
        <p:pic>
          <p:nvPicPr>
            <p:cNvPr id="92" name="Gráfico 91" descr="Germ con relleno sólido">
              <a:extLst>
                <a:ext uri="{FF2B5EF4-FFF2-40B4-BE49-F238E27FC236}">
                  <a16:creationId xmlns:a16="http://schemas.microsoft.com/office/drawing/2014/main" id="{9F8F4539-D361-FDA1-29AE-4AEA389EC7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701498">
              <a:off x="9657459" y="4651773"/>
              <a:ext cx="462288" cy="462288"/>
            </a:xfrm>
            <a:prstGeom prst="rect">
              <a:avLst/>
            </a:prstGeom>
          </p:spPr>
        </p:pic>
      </p:grpSp>
      <p:sp>
        <p:nvSpPr>
          <p:cNvPr id="94" name="Flecha derecha 93">
            <a:extLst>
              <a:ext uri="{FF2B5EF4-FFF2-40B4-BE49-F238E27FC236}">
                <a16:creationId xmlns:a16="http://schemas.microsoft.com/office/drawing/2014/main" id="{5998BF42-2FEB-963B-3C65-A025834796B8}"/>
              </a:ext>
            </a:extLst>
          </p:cNvPr>
          <p:cNvSpPr/>
          <p:nvPr/>
        </p:nvSpPr>
        <p:spPr>
          <a:xfrm>
            <a:off x="2182091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5" name="Flecha derecha 94">
            <a:extLst>
              <a:ext uri="{FF2B5EF4-FFF2-40B4-BE49-F238E27FC236}">
                <a16:creationId xmlns:a16="http://schemas.microsoft.com/office/drawing/2014/main" id="{93090546-DC06-E3DE-C2DD-342A388B424E}"/>
              </a:ext>
            </a:extLst>
          </p:cNvPr>
          <p:cNvSpPr/>
          <p:nvPr/>
        </p:nvSpPr>
        <p:spPr>
          <a:xfrm>
            <a:off x="4557753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Flecha derecha 95">
            <a:extLst>
              <a:ext uri="{FF2B5EF4-FFF2-40B4-BE49-F238E27FC236}">
                <a16:creationId xmlns:a16="http://schemas.microsoft.com/office/drawing/2014/main" id="{49875D1B-DF7E-0AAF-0C85-0B8687E4FA32}"/>
              </a:ext>
            </a:extLst>
          </p:cNvPr>
          <p:cNvSpPr/>
          <p:nvPr/>
        </p:nvSpPr>
        <p:spPr>
          <a:xfrm>
            <a:off x="6765441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7" name="Flecha derecha 96">
            <a:extLst>
              <a:ext uri="{FF2B5EF4-FFF2-40B4-BE49-F238E27FC236}">
                <a16:creationId xmlns:a16="http://schemas.microsoft.com/office/drawing/2014/main" id="{3BBF45A9-F234-5A11-0606-A42D1DD15559}"/>
              </a:ext>
            </a:extLst>
          </p:cNvPr>
          <p:cNvSpPr/>
          <p:nvPr/>
        </p:nvSpPr>
        <p:spPr>
          <a:xfrm>
            <a:off x="9052656" y="3766140"/>
            <a:ext cx="316410" cy="3058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72D7A890-1791-5C18-879F-213EDF45BF43}"/>
              </a:ext>
            </a:extLst>
          </p:cNvPr>
          <p:cNvGrpSpPr/>
          <p:nvPr/>
        </p:nvGrpSpPr>
        <p:grpSpPr>
          <a:xfrm>
            <a:off x="9787826" y="3055630"/>
            <a:ext cx="1620864" cy="1760155"/>
            <a:chOff x="9787826" y="3065726"/>
            <a:chExt cx="1620864" cy="1760155"/>
          </a:xfrm>
        </p:grpSpPr>
        <p:cxnSp>
          <p:nvCxnSpPr>
            <p:cNvPr id="102" name="Conector recto de flecha 101">
              <a:extLst>
                <a:ext uri="{FF2B5EF4-FFF2-40B4-BE49-F238E27FC236}">
                  <a16:creationId xmlns:a16="http://schemas.microsoft.com/office/drawing/2014/main" id="{9B61143F-CB0C-C2D9-E445-CE0FAAB1AB5F}"/>
                </a:ext>
              </a:extLst>
            </p:cNvPr>
            <p:cNvCxnSpPr/>
            <p:nvPr/>
          </p:nvCxnSpPr>
          <p:spPr>
            <a:xfrm>
              <a:off x="9787826" y="3963180"/>
              <a:ext cx="1620864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3178AF3B-7B33-AB9F-A4E4-F86CEC69FACE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258" y="3065726"/>
              <a:ext cx="0" cy="176015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A5A517FC-AF41-F460-EE4E-26A066B5124A}"/>
                </a:ext>
              </a:extLst>
            </p:cNvPr>
            <p:cNvSpPr/>
            <p:nvPr/>
          </p:nvSpPr>
          <p:spPr>
            <a:xfrm>
              <a:off x="10991281" y="4246979"/>
              <a:ext cx="374112" cy="3701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C66C7C9D-1124-6A70-C9BA-A5979549E53E}"/>
                </a:ext>
              </a:extLst>
            </p:cNvPr>
            <p:cNvSpPr/>
            <p:nvPr/>
          </p:nvSpPr>
          <p:spPr>
            <a:xfrm>
              <a:off x="10883001" y="3350365"/>
              <a:ext cx="374112" cy="37011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7B9661FB-FE42-A950-3CAC-6C8619AAC032}"/>
                </a:ext>
              </a:extLst>
            </p:cNvPr>
            <p:cNvSpPr/>
            <p:nvPr/>
          </p:nvSpPr>
          <p:spPr>
            <a:xfrm>
              <a:off x="10223420" y="4409883"/>
              <a:ext cx="374112" cy="370111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FABBB452-32A0-174F-BB59-0643F9551553}"/>
                </a:ext>
              </a:extLst>
            </p:cNvPr>
            <p:cNvSpPr/>
            <p:nvPr/>
          </p:nvSpPr>
          <p:spPr>
            <a:xfrm>
              <a:off x="9858087" y="3993885"/>
              <a:ext cx="374112" cy="37011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CE9CCC92-A6D3-6F2D-4150-416D057423EA}"/>
              </a:ext>
            </a:extLst>
          </p:cNvPr>
          <p:cNvSpPr txBox="1"/>
          <p:nvPr/>
        </p:nvSpPr>
        <p:spPr>
          <a:xfrm>
            <a:off x="266678" y="5584411"/>
            <a:ext cx="1323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b="1" dirty="0" err="1"/>
              <a:t>tools</a:t>
            </a:r>
            <a:r>
              <a:rPr lang="es-ES_tradnl" sz="1600" b="1" dirty="0"/>
              <a:t> </a:t>
            </a:r>
            <a:r>
              <a:rPr lang="es-ES_tradnl" sz="1600" b="1" dirty="0" err="1"/>
              <a:t>import</a:t>
            </a:r>
            <a:endParaRPr lang="es-ES_tradnl" sz="1600" b="1" dirty="0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F7AE4646-6B0F-C851-B3FC-C6A9CE785C75}"/>
              </a:ext>
            </a:extLst>
          </p:cNvPr>
          <p:cNvSpPr txBox="1"/>
          <p:nvPr/>
        </p:nvSpPr>
        <p:spPr>
          <a:xfrm>
            <a:off x="2222649" y="5463699"/>
            <a:ext cx="21805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 err="1"/>
              <a:t>demux</a:t>
            </a:r>
            <a:endParaRPr lang="es-ES_tradnl" sz="1600" dirty="0"/>
          </a:p>
          <a:p>
            <a:pPr algn="ctr"/>
            <a:r>
              <a:rPr lang="es-ES_tradnl" sz="1600" b="1" dirty="0" err="1"/>
              <a:t>cut</a:t>
            </a:r>
            <a:r>
              <a:rPr lang="es-ES_tradnl" sz="1600" b="1" dirty="0"/>
              <a:t> </a:t>
            </a:r>
            <a:r>
              <a:rPr lang="es-ES_tradnl" sz="1600" b="1" dirty="0" err="1"/>
              <a:t>adapt</a:t>
            </a:r>
            <a:endParaRPr lang="es-ES_tradnl" sz="1600" b="1" dirty="0"/>
          </a:p>
          <a:p>
            <a:pPr algn="ctr"/>
            <a:r>
              <a:rPr lang="es-ES_tradnl" sz="1600" dirty="0" err="1"/>
              <a:t>quality</a:t>
            </a:r>
            <a:r>
              <a:rPr lang="es-ES_tradnl" sz="1600" dirty="0"/>
              <a:t>-control</a:t>
            </a:r>
          </a:p>
          <a:p>
            <a:pPr algn="ctr"/>
            <a:r>
              <a:rPr lang="es-ES_tradnl" sz="1600" dirty="0" err="1"/>
              <a:t>quality-filter</a:t>
            </a:r>
            <a:endParaRPr lang="es-ES_tradnl" sz="1600" dirty="0"/>
          </a:p>
          <a:p>
            <a:pPr algn="ctr"/>
            <a:endParaRPr lang="es-ES_tradnl" sz="1600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4C76ACA4-5D96-B4A2-760E-A0EAA16DC88E}"/>
              </a:ext>
            </a:extLst>
          </p:cNvPr>
          <p:cNvSpPr txBox="1"/>
          <p:nvPr/>
        </p:nvSpPr>
        <p:spPr>
          <a:xfrm>
            <a:off x="4624450" y="5463698"/>
            <a:ext cx="21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b="1" dirty="0"/>
              <a:t>dada2</a:t>
            </a:r>
            <a:r>
              <a:rPr lang="es-ES_tradnl" sz="1600" dirty="0"/>
              <a:t> </a:t>
            </a:r>
          </a:p>
          <a:p>
            <a:pPr algn="ctr"/>
            <a:r>
              <a:rPr lang="es-ES_tradnl" sz="1600" b="1" dirty="0" err="1"/>
              <a:t>deblur</a:t>
            </a:r>
            <a:endParaRPr lang="es-ES_tradnl" sz="1600" b="1" dirty="0"/>
          </a:p>
          <a:p>
            <a:pPr algn="ctr"/>
            <a:r>
              <a:rPr lang="es-ES_tradnl" sz="1600" dirty="0" err="1"/>
              <a:t>vsearch</a:t>
            </a:r>
            <a:r>
              <a:rPr lang="es-ES_tradnl" sz="1600" dirty="0"/>
              <a:t> 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ECD15D1C-7AF7-9E74-FF28-52C2F7527D70}"/>
              </a:ext>
            </a:extLst>
          </p:cNvPr>
          <p:cNvSpPr txBox="1"/>
          <p:nvPr/>
        </p:nvSpPr>
        <p:spPr>
          <a:xfrm>
            <a:off x="6942261" y="5584411"/>
            <a:ext cx="21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 err="1"/>
              <a:t>rescript</a:t>
            </a:r>
            <a:endParaRPr lang="es-ES_tradnl" sz="1600" dirty="0"/>
          </a:p>
          <a:p>
            <a:pPr algn="ctr"/>
            <a:r>
              <a:rPr lang="es-ES_tradnl" sz="1600" b="1" dirty="0" err="1"/>
              <a:t>feature-classifer</a:t>
            </a:r>
            <a:endParaRPr lang="es-ES_tradnl" sz="1600" b="1" dirty="0"/>
          </a:p>
          <a:p>
            <a:pPr algn="ctr"/>
            <a:endParaRPr lang="es-ES_tradnl" sz="1600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50DE3040-42F2-EC5E-5621-C4913277C0DA}"/>
              </a:ext>
            </a:extLst>
          </p:cNvPr>
          <p:cNvSpPr txBox="1"/>
          <p:nvPr/>
        </p:nvSpPr>
        <p:spPr>
          <a:xfrm>
            <a:off x="9369066" y="5707521"/>
            <a:ext cx="2180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b="1" dirty="0" err="1"/>
              <a:t>diversity</a:t>
            </a:r>
            <a:endParaRPr lang="es-ES_tradnl" sz="1600" b="1" dirty="0"/>
          </a:p>
          <a:p>
            <a:pPr algn="ctr"/>
            <a:r>
              <a:rPr lang="es-ES_tradnl" sz="1600" dirty="0" err="1"/>
              <a:t>diversity-lib</a:t>
            </a:r>
            <a:endParaRPr lang="es-ES_tradnl" sz="1600" dirty="0"/>
          </a:p>
        </p:txBody>
      </p:sp>
    </p:spTree>
    <p:extLst>
      <p:ext uri="{BB962C8B-B14F-4D97-AF65-F5344CB8AC3E}">
        <p14:creationId xmlns:p14="http://schemas.microsoft.com/office/powerpoint/2010/main" val="346382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CD06E-810A-DEB9-A999-035B8809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4" y="365125"/>
            <a:ext cx="11232776" cy="1325563"/>
          </a:xfrm>
        </p:spPr>
        <p:txBody>
          <a:bodyPr/>
          <a:lstStyle/>
          <a:p>
            <a:pPr algn="ctr"/>
            <a:r>
              <a:rPr lang="es-ES_tradnl" b="1" dirty="0"/>
              <a:t>Inferencia de variantes de secuencias vs agrupamiento de secuencias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F1E17B-D597-01A4-2BE6-140A8EF4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06" t="41596" r="26697" b="30002"/>
          <a:stretch/>
        </p:blipFill>
        <p:spPr>
          <a:xfrm>
            <a:off x="2000956" y="1690688"/>
            <a:ext cx="6797512" cy="273191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AD7765B-533C-2CE0-9572-C47A062A3C7D}"/>
              </a:ext>
            </a:extLst>
          </p:cNvPr>
          <p:cNvSpPr txBox="1"/>
          <p:nvPr/>
        </p:nvSpPr>
        <p:spPr>
          <a:xfrm>
            <a:off x="6005689" y="6488668"/>
            <a:ext cx="7224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https://</a:t>
            </a:r>
            <a:r>
              <a:rPr lang="es-ES_tradnl" dirty="0" err="1"/>
              <a:t>bioinformatics.ccr.cancer.gov</a:t>
            </a:r>
            <a:r>
              <a:rPr lang="es-ES_tradnl" dirty="0"/>
              <a:t>/</a:t>
            </a:r>
            <a:r>
              <a:rPr lang="es-ES_tradnl" dirty="0" err="1"/>
              <a:t>docs</a:t>
            </a:r>
            <a:r>
              <a:rPr lang="es-ES_tradnl" dirty="0"/>
              <a:t>/qiime2/Lesson3/</a:t>
            </a:r>
          </a:p>
        </p:txBody>
      </p:sp>
      <p:sp>
        <p:nvSpPr>
          <p:cNvPr id="15" name="Flecha doblada hacia arriba 14">
            <a:extLst>
              <a:ext uri="{FF2B5EF4-FFF2-40B4-BE49-F238E27FC236}">
                <a16:creationId xmlns:a16="http://schemas.microsoft.com/office/drawing/2014/main" id="{9D076D89-B8C7-8D5C-40A0-92F88A1F3EC7}"/>
              </a:ext>
            </a:extLst>
          </p:cNvPr>
          <p:cNvSpPr/>
          <p:nvPr/>
        </p:nvSpPr>
        <p:spPr>
          <a:xfrm rot="5400000" flipV="1">
            <a:off x="5195689" y="3539249"/>
            <a:ext cx="432000" cy="1188000"/>
          </a:xfrm>
          <a:prstGeom prst="bentUpArrow">
            <a:avLst>
              <a:gd name="adj1" fmla="val 29167"/>
              <a:gd name="adj2" fmla="val 26041"/>
              <a:gd name="adj3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078A4E-8B04-E869-2D3A-5A59FE94A869}"/>
              </a:ext>
            </a:extLst>
          </p:cNvPr>
          <p:cNvSpPr txBox="1"/>
          <p:nvPr/>
        </p:nvSpPr>
        <p:spPr>
          <a:xfrm>
            <a:off x="629706" y="4085119"/>
            <a:ext cx="57755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                             </a:t>
            </a:r>
            <a:r>
              <a:rPr lang="es-ES_tradnl" dirty="0" err="1"/>
              <a:t>Denoising</a:t>
            </a:r>
            <a:endParaRPr lang="es-ES_tradnl" dirty="0"/>
          </a:p>
          <a:p>
            <a:endParaRPr lang="es-ES_tradnl" dirty="0"/>
          </a:p>
          <a:p>
            <a:r>
              <a:rPr lang="es-ES_tradnl" dirty="0"/>
              <a:t>1. Filtrado de calidad</a:t>
            </a:r>
          </a:p>
          <a:p>
            <a:r>
              <a:rPr lang="es-ES_tradnl" dirty="0"/>
              <a:t>2. Uso de radios de error</a:t>
            </a:r>
          </a:p>
          <a:p>
            <a:r>
              <a:rPr lang="es-ES_tradnl" dirty="0"/>
              <a:t>     (p = A -&gt;  T / p = G -&gt; C)</a:t>
            </a:r>
          </a:p>
          <a:p>
            <a:r>
              <a:rPr lang="es-ES_tradnl" b="1" dirty="0"/>
              <a:t>3. Inferencia de </a:t>
            </a:r>
            <a:r>
              <a:rPr lang="es-ES_tradnl" b="1" dirty="0" err="1"/>
              <a:t>ASVs</a:t>
            </a:r>
            <a:endParaRPr lang="es-ES_tradnl" b="1" dirty="0"/>
          </a:p>
          <a:p>
            <a:r>
              <a:rPr lang="es-ES_tradnl" dirty="0"/>
              <a:t>4. Eliminación de quimera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8C2326A-8BAA-A365-3709-20408A9F57F4}"/>
              </a:ext>
            </a:extLst>
          </p:cNvPr>
          <p:cNvSpPr/>
          <p:nvPr/>
        </p:nvSpPr>
        <p:spPr>
          <a:xfrm>
            <a:off x="3807177" y="4157338"/>
            <a:ext cx="191911" cy="191911"/>
          </a:xfrm>
          <a:prstGeom prst="ellipse">
            <a:avLst/>
          </a:prstGeom>
          <a:solidFill>
            <a:srgbClr val="FCB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4B1D02C-91F8-1CAE-43E2-B61825D0846A}"/>
              </a:ext>
            </a:extLst>
          </p:cNvPr>
          <p:cNvSpPr/>
          <p:nvPr/>
        </p:nvSpPr>
        <p:spPr>
          <a:xfrm>
            <a:off x="4061178" y="4157338"/>
            <a:ext cx="191911" cy="191911"/>
          </a:xfrm>
          <a:prstGeom prst="ellipse">
            <a:avLst/>
          </a:prstGeom>
          <a:solidFill>
            <a:srgbClr val="37B1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54A365B-B0DF-EDE8-AB87-393EA32C1570}"/>
              </a:ext>
            </a:extLst>
          </p:cNvPr>
          <p:cNvSpPr/>
          <p:nvPr/>
        </p:nvSpPr>
        <p:spPr>
          <a:xfrm>
            <a:off x="4292601" y="4157338"/>
            <a:ext cx="191911" cy="191911"/>
          </a:xfrm>
          <a:prstGeom prst="ellipse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20097B2-B2F0-F8E9-6EC0-BC804DD432AA}"/>
              </a:ext>
            </a:extLst>
          </p:cNvPr>
          <p:cNvSpPr/>
          <p:nvPr/>
        </p:nvSpPr>
        <p:spPr>
          <a:xfrm>
            <a:off x="4524024" y="4157338"/>
            <a:ext cx="191911" cy="191911"/>
          </a:xfrm>
          <a:prstGeom prst="ellipse">
            <a:avLst/>
          </a:prstGeom>
          <a:solidFill>
            <a:srgbClr val="2E3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5DFA7A0-2DAA-FEF9-AC07-14D4E711514C}"/>
              </a:ext>
            </a:extLst>
          </p:cNvPr>
          <p:cNvSpPr/>
          <p:nvPr/>
        </p:nvSpPr>
        <p:spPr>
          <a:xfrm>
            <a:off x="3744366" y="1624084"/>
            <a:ext cx="1682045" cy="2370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EC8BA8C-F2B1-0CA7-4AAF-052DB4E5B792}"/>
              </a:ext>
            </a:extLst>
          </p:cNvPr>
          <p:cNvSpPr/>
          <p:nvPr/>
        </p:nvSpPr>
        <p:spPr>
          <a:xfrm>
            <a:off x="5356890" y="1624084"/>
            <a:ext cx="1682045" cy="2394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8424004-4917-9F87-ACFF-315BC31F609D}"/>
              </a:ext>
            </a:extLst>
          </p:cNvPr>
          <p:cNvSpPr/>
          <p:nvPr/>
        </p:nvSpPr>
        <p:spPr>
          <a:xfrm>
            <a:off x="7038935" y="1546578"/>
            <a:ext cx="1682045" cy="2370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F657B39-862C-A0DF-41CC-36A1FC174C3E}"/>
              </a:ext>
            </a:extLst>
          </p:cNvPr>
          <p:cNvSpPr/>
          <p:nvPr/>
        </p:nvSpPr>
        <p:spPr>
          <a:xfrm>
            <a:off x="3517488" y="4152545"/>
            <a:ext cx="191911" cy="191911"/>
          </a:xfrm>
          <a:prstGeom prst="ellipse">
            <a:avLst/>
          </a:prstGeom>
          <a:solidFill>
            <a:srgbClr val="CDD8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AB0C1BF-0DB7-0897-FF44-26BCB59D109C}"/>
              </a:ext>
            </a:extLst>
          </p:cNvPr>
          <p:cNvSpPr/>
          <p:nvPr/>
        </p:nvSpPr>
        <p:spPr>
          <a:xfrm>
            <a:off x="6154494" y="3948206"/>
            <a:ext cx="2589785" cy="257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2269A5D-146D-B38B-1A24-C77FC6E01A43}"/>
              </a:ext>
            </a:extLst>
          </p:cNvPr>
          <p:cNvSpPr/>
          <p:nvPr/>
        </p:nvSpPr>
        <p:spPr>
          <a:xfrm>
            <a:off x="330974" y="3958340"/>
            <a:ext cx="5877709" cy="231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460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ED9A8-7F7A-CA6A-ED06-7E2BBA74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Inferencia de variantes de secuencias vs agrupamiento de secuencias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EE403FB-4464-22F8-B294-BF51042F9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ASV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EE7E7EE-1A5E-7AF8-5174-5F2CF52082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s-ES_tradnl" dirty="0"/>
              <a:t>DADA2 / </a:t>
            </a:r>
            <a:r>
              <a:rPr lang="es-ES_tradnl" dirty="0" err="1"/>
              <a:t>Deblur</a:t>
            </a:r>
            <a:endParaRPr lang="es-ES_tradnl" dirty="0"/>
          </a:p>
          <a:p>
            <a:pPr algn="ctr"/>
            <a:endParaRPr lang="es-ES_tradnl" dirty="0"/>
          </a:p>
          <a:p>
            <a:pPr algn="ctr"/>
            <a:r>
              <a:rPr lang="es-ES_tradnl" dirty="0"/>
              <a:t>Algoritmos probabilísticos que usan modelos de error</a:t>
            </a:r>
          </a:p>
          <a:p>
            <a:pPr algn="ctr"/>
            <a:endParaRPr lang="es-ES_tradn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500E12-A636-C22F-91CF-30D7A4FFA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_tradnl" dirty="0"/>
              <a:t>OTU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BF5D903-D360-D76E-6730-7663DD1093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ctr"/>
            <a:r>
              <a:rPr lang="es-ES_tradnl" dirty="0"/>
              <a:t>USEARCH / VSEARCH </a:t>
            </a:r>
          </a:p>
          <a:p>
            <a:pPr algn="ctr"/>
            <a:endParaRPr lang="es-ES_tradnl" dirty="0"/>
          </a:p>
          <a:p>
            <a:pPr algn="ctr"/>
            <a:r>
              <a:rPr lang="es-ES_tradnl" dirty="0" err="1"/>
              <a:t>Dereplicación</a:t>
            </a:r>
            <a:r>
              <a:rPr lang="es-ES_tradnl" dirty="0"/>
              <a:t> y </a:t>
            </a:r>
            <a:r>
              <a:rPr lang="es-ES_tradnl" dirty="0" err="1"/>
              <a:t>clustering</a:t>
            </a:r>
            <a:r>
              <a:rPr lang="es-ES_tradnl" dirty="0"/>
              <a:t> a % de identidad contra base de datos</a:t>
            </a:r>
          </a:p>
          <a:p>
            <a:pPr algn="ctr"/>
            <a:endParaRPr lang="es-ES_tradnl" dirty="0"/>
          </a:p>
          <a:p>
            <a:pPr algn="ctr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5307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A4920-5544-662C-F8CF-026FBB3A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/>
              <a:t>Clasificación taxonómica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EDEE4-B12D-A0F2-1552-BE4208239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1848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_tradnl" dirty="0"/>
              <a:t>Asignar identidad a una secuencia de nucleótidos a partir de una base de datos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Diferentes estrategias</a:t>
            </a:r>
          </a:p>
          <a:p>
            <a:pPr lvl="1"/>
            <a:r>
              <a:rPr lang="es-ES_tradnl" sz="2000" dirty="0"/>
              <a:t>Alineamientos</a:t>
            </a:r>
          </a:p>
          <a:p>
            <a:pPr lvl="2"/>
            <a:r>
              <a:rPr lang="es-ES_tradnl" sz="1600" dirty="0" err="1"/>
              <a:t>Blast</a:t>
            </a:r>
            <a:r>
              <a:rPr lang="es-ES_tradnl" sz="1600" dirty="0"/>
              <a:t>+ / VSEARCH</a:t>
            </a:r>
          </a:p>
          <a:p>
            <a:pPr lvl="1"/>
            <a:r>
              <a:rPr lang="es-ES_tradnl" sz="2000" dirty="0"/>
              <a:t>Modelos de probabilidad</a:t>
            </a:r>
          </a:p>
          <a:p>
            <a:pPr lvl="2"/>
            <a:r>
              <a:rPr lang="es-ES_tradnl" sz="1600" dirty="0"/>
              <a:t>Navie Bayes / RDP</a:t>
            </a:r>
          </a:p>
          <a:p>
            <a:pPr lvl="2"/>
            <a:endParaRPr lang="es-ES_tradnl" sz="1600" dirty="0"/>
          </a:p>
          <a:p>
            <a:pPr lvl="1"/>
            <a:endParaRPr lang="es-ES_tradnl" sz="2000" dirty="0"/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</p:txBody>
      </p:sp>
      <p:pic>
        <p:nvPicPr>
          <p:cNvPr id="1026" name="Picture 2" descr="2-16S rRNA gene structure and possible primers A schematic figure of... |  Download Scientific Diagram">
            <a:extLst>
              <a:ext uri="{FF2B5EF4-FFF2-40B4-BE49-F238E27FC236}">
                <a16:creationId xmlns:a16="http://schemas.microsoft.com/office/drawing/2014/main" id="{F72AC300-E1D7-30EA-78AC-7BADC487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65" y="3122110"/>
            <a:ext cx="4509604" cy="99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7F08CD-5399-148A-8F0E-F62091544F1F}"/>
              </a:ext>
            </a:extLst>
          </p:cNvPr>
          <p:cNvSpPr txBox="1"/>
          <p:nvPr/>
        </p:nvSpPr>
        <p:spPr>
          <a:xfrm>
            <a:off x="6109485" y="2152614"/>
            <a:ext cx="1270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TGCGCG</a:t>
            </a:r>
          </a:p>
          <a:p>
            <a:r>
              <a:rPr lang="es-ES_tradnl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TGC</a:t>
            </a:r>
          </a:p>
          <a:p>
            <a:r>
              <a:rPr lang="es-ES_tradnl" dirty="0"/>
              <a:t>   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GCG</a:t>
            </a:r>
          </a:p>
          <a:p>
            <a:r>
              <a:rPr lang="es-ES_tradnl" dirty="0"/>
              <a:t>       </a:t>
            </a:r>
            <a:r>
              <a:rPr lang="es-ES_tradnl" dirty="0">
                <a:solidFill>
                  <a:srgbClr val="FFC000"/>
                </a:solidFill>
              </a:rPr>
              <a:t>CGC</a:t>
            </a:r>
            <a:endParaRPr lang="es-ES_tradnl" sz="2800" dirty="0">
              <a:solidFill>
                <a:srgbClr val="FFC000"/>
              </a:solidFill>
            </a:endParaRPr>
          </a:p>
          <a:p>
            <a:r>
              <a:rPr lang="es-ES_tradnl" dirty="0"/>
              <a:t>           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GCG</a:t>
            </a:r>
          </a:p>
          <a:p>
            <a:r>
              <a:rPr lang="es-ES_tradnl" sz="2800" dirty="0"/>
              <a:t>        </a:t>
            </a: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39C011-A552-1CF3-0CE3-FD626BECA1A6}"/>
              </a:ext>
            </a:extLst>
          </p:cNvPr>
          <p:cNvSpPr txBox="1"/>
          <p:nvPr/>
        </p:nvSpPr>
        <p:spPr>
          <a:xfrm>
            <a:off x="7701581" y="1985880"/>
            <a:ext cx="41197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Modelo de referencia</a:t>
            </a:r>
          </a:p>
          <a:p>
            <a:pPr algn="ctr"/>
            <a:r>
              <a:rPr lang="es-ES_tradnl" dirty="0" err="1"/>
              <a:t>Taxa</a:t>
            </a:r>
            <a:r>
              <a:rPr lang="es-ES_tradnl" dirty="0"/>
              <a:t> 1                              </a:t>
            </a:r>
            <a:r>
              <a:rPr lang="es-ES_tradnl" dirty="0" err="1"/>
              <a:t>Taxa</a:t>
            </a:r>
            <a:r>
              <a:rPr lang="es-ES_tradnl" dirty="0"/>
              <a:t> 2</a:t>
            </a:r>
          </a:p>
          <a:p>
            <a:pPr algn="ctr"/>
            <a:r>
              <a:rPr lang="es-ES_tradnl" b="1" dirty="0"/>
              <a:t>P(taxa1) = 0.6             P(taxa2) = 0.4</a:t>
            </a:r>
          </a:p>
          <a:p>
            <a:pPr algn="ctr"/>
            <a:r>
              <a:rPr lang="es-ES_tradnl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TGC = 0.25                        TGC = 0.6</a:t>
            </a:r>
          </a:p>
          <a:p>
            <a:pPr algn="ctr"/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GCG = 0.25</a:t>
            </a:r>
            <a:r>
              <a:rPr lang="es-ES_tradnl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       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GCG = 0.2</a:t>
            </a:r>
          </a:p>
          <a:p>
            <a:pPr algn="ctr"/>
            <a:r>
              <a:rPr lang="es-ES_tradnl" dirty="0">
                <a:solidFill>
                  <a:srgbClr val="FFC000"/>
                </a:solidFill>
              </a:rPr>
              <a:t>CGC = 0.5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             </a:t>
            </a:r>
            <a:r>
              <a:rPr lang="es-ES_tradnl" dirty="0">
                <a:solidFill>
                  <a:srgbClr val="FFC000"/>
                </a:solidFill>
              </a:rPr>
              <a:t>CGC = 0.2</a:t>
            </a:r>
            <a:endParaRPr lang="es-ES_tradn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19ECF7-7BDA-4E1B-1E42-94EC11DFF2F9}"/>
              </a:ext>
            </a:extLst>
          </p:cNvPr>
          <p:cNvSpPr txBox="1"/>
          <p:nvPr/>
        </p:nvSpPr>
        <p:spPr>
          <a:xfrm>
            <a:off x="6433985" y="4331143"/>
            <a:ext cx="450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¿Cuál es la probabilidad de encontrar un </a:t>
            </a:r>
            <a:r>
              <a:rPr lang="es-ES_tradnl" dirty="0" err="1"/>
              <a:t>taxa</a:t>
            </a:r>
            <a:r>
              <a:rPr lang="es-ES_tradnl" dirty="0"/>
              <a:t> dada una secuencia especifica?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47996B-F0D0-4900-8A85-AB48F7DD4BA7}"/>
              </a:ext>
            </a:extLst>
          </p:cNvPr>
          <p:cNvSpPr txBox="1"/>
          <p:nvPr/>
        </p:nvSpPr>
        <p:spPr>
          <a:xfrm>
            <a:off x="6307867" y="5285023"/>
            <a:ext cx="5251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P(taxa1|secuencia)  0.6 x </a:t>
            </a:r>
            <a:r>
              <a:rPr lang="es-ES_tradnl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0.25 </a:t>
            </a:r>
            <a:r>
              <a:rPr lang="es-ES_tradnl" dirty="0"/>
              <a:t>x 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0.25</a:t>
            </a:r>
            <a:r>
              <a:rPr lang="es-ES_tradnl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_tradnl" dirty="0"/>
              <a:t>x </a:t>
            </a:r>
            <a:r>
              <a:rPr lang="es-ES_tradnl" dirty="0">
                <a:solidFill>
                  <a:srgbClr val="FFC000"/>
                </a:solidFill>
              </a:rPr>
              <a:t>0.5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_tradnl" dirty="0"/>
              <a:t>= </a:t>
            </a:r>
            <a:r>
              <a:rPr lang="es-ES_tradnl" b="1" dirty="0"/>
              <a:t>0.0046</a:t>
            </a:r>
          </a:p>
          <a:p>
            <a:r>
              <a:rPr lang="es-ES_tradnl" dirty="0"/>
              <a:t>P(taxa2|secuencia)  0.4 x </a:t>
            </a:r>
            <a:r>
              <a:rPr lang="es-ES_tradnl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0.6 </a:t>
            </a:r>
            <a:r>
              <a:rPr lang="es-ES_tradnl" dirty="0"/>
              <a:t>x 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0.2</a:t>
            </a:r>
            <a:r>
              <a:rPr lang="es-ES_tradnl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ES_tradn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_tradnl" dirty="0"/>
              <a:t>x </a:t>
            </a:r>
            <a:r>
              <a:rPr lang="es-ES_tradnl" dirty="0">
                <a:solidFill>
                  <a:srgbClr val="FFC000"/>
                </a:solidFill>
              </a:rPr>
              <a:t>0.2 </a:t>
            </a:r>
            <a:r>
              <a:rPr lang="es-ES_tradnl" dirty="0"/>
              <a:t>= 0.0019</a:t>
            </a:r>
          </a:p>
        </p:txBody>
      </p:sp>
    </p:spTree>
    <p:extLst>
      <p:ext uri="{BB962C8B-B14F-4D97-AF65-F5344CB8AC3E}">
        <p14:creationId xmlns:p14="http://schemas.microsoft.com/office/powerpoint/2010/main" val="178594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44FB6-7418-EB16-2829-1BF14167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¿Cómo describir la diversidad? </a:t>
            </a:r>
          </a:p>
        </p:txBody>
      </p:sp>
      <p:pic>
        <p:nvPicPr>
          <p:cNvPr id="1028" name="Picture 4" descr="Robert Whittaker | Classification of Organisms Wiki | Fandom">
            <a:extLst>
              <a:ext uri="{FF2B5EF4-FFF2-40B4-BE49-F238E27FC236}">
                <a16:creationId xmlns:a16="http://schemas.microsoft.com/office/drawing/2014/main" id="{561A6AF7-3CF0-890D-4A3C-B38DDE89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325" y="2947350"/>
            <a:ext cx="1316380" cy="189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CAA18B8-23B7-2F9B-206B-B3407A709C12}"/>
              </a:ext>
            </a:extLst>
          </p:cNvPr>
          <p:cNvSpPr txBox="1"/>
          <p:nvPr/>
        </p:nvSpPr>
        <p:spPr>
          <a:xfrm>
            <a:off x="2667147" y="3155285"/>
            <a:ext cx="44494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Robert Whittaker</a:t>
            </a:r>
          </a:p>
          <a:p>
            <a:pPr algn="ctr"/>
            <a:r>
              <a:rPr lang="es-ES_tradnl" dirty="0"/>
              <a:t>1960 </a:t>
            </a:r>
          </a:p>
          <a:p>
            <a:pPr algn="ctr"/>
            <a:r>
              <a:rPr lang="es-ES_tradnl" dirty="0"/>
              <a:t>La diversidad de especies se puede dividir en componentes </a:t>
            </a:r>
          </a:p>
          <a:p>
            <a:pPr algn="ctr"/>
            <a:endParaRPr lang="es-ES_tradn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CB01ED-5314-5555-BC91-8159A85B2643}"/>
              </a:ext>
            </a:extLst>
          </p:cNvPr>
          <p:cNvSpPr txBox="1"/>
          <p:nvPr/>
        </p:nvSpPr>
        <p:spPr>
          <a:xfrm>
            <a:off x="7612490" y="2601287"/>
            <a:ext cx="42494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Alfa</a:t>
            </a:r>
            <a:r>
              <a:rPr lang="es-ES_tradnl" dirty="0"/>
              <a:t>    </a:t>
            </a:r>
          </a:p>
          <a:p>
            <a:r>
              <a:rPr lang="es-ES_tradnl" dirty="0"/>
              <a:t>Diversidad de especies dentro de las comunidades de un área geográfica específica</a:t>
            </a:r>
          </a:p>
          <a:p>
            <a:endParaRPr lang="es-ES_tradnl" dirty="0"/>
          </a:p>
          <a:p>
            <a:r>
              <a:rPr lang="es-ES_tradnl" b="1" dirty="0"/>
              <a:t>Beta</a:t>
            </a:r>
          </a:p>
          <a:p>
            <a:r>
              <a:rPr lang="es-ES_tradnl" dirty="0"/>
              <a:t>El cambio en composición de especies entre comunidades</a:t>
            </a:r>
          </a:p>
          <a:p>
            <a:endParaRPr lang="es-ES_tradnl" dirty="0"/>
          </a:p>
          <a:p>
            <a:r>
              <a:rPr lang="es-ES_tradnl" b="1" dirty="0"/>
              <a:t>Gama</a:t>
            </a:r>
          </a:p>
          <a:p>
            <a:r>
              <a:rPr lang="es-ES_tradnl" dirty="0"/>
              <a:t>Diversidad del ecosistema / meta-comunidad</a:t>
            </a:r>
          </a:p>
          <a:p>
            <a:endParaRPr lang="es-ES_tradnl" dirty="0"/>
          </a:p>
          <a:p>
            <a:r>
              <a:rPr lang="es-ES_tradnl" dirty="0"/>
              <a:t>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0626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B3E33-DD1E-EB5C-E4BA-0143F558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Análisis de diversidad: Alfa diversidad</a:t>
            </a:r>
          </a:p>
        </p:txBody>
      </p:sp>
      <p:sp>
        <p:nvSpPr>
          <p:cNvPr id="108" name="Marcador de texto 107">
            <a:extLst>
              <a:ext uri="{FF2B5EF4-FFF2-40B4-BE49-F238E27FC236}">
                <a16:creationId xmlns:a16="http://schemas.microsoft.com/office/drawing/2014/main" id="{80468B3D-D2D9-1B61-4F1E-DF65355F8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sz="2800" dirty="0"/>
              <a:t>¿Qué tan diversa es una muestra?</a:t>
            </a:r>
          </a:p>
        </p:txBody>
      </p:sp>
      <p:sp>
        <p:nvSpPr>
          <p:cNvPr id="109" name="Marcador de contenido 108">
            <a:extLst>
              <a:ext uri="{FF2B5EF4-FFF2-40B4-BE49-F238E27FC236}">
                <a16:creationId xmlns:a16="http://schemas.microsoft.com/office/drawing/2014/main" id="{A8ADA67D-F61D-C54F-DC31-B6C1E682F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716" y="2362237"/>
            <a:ext cx="5157787" cy="30608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_tradnl" sz="2400" dirty="0"/>
          </a:p>
          <a:p>
            <a:r>
              <a:rPr lang="es-ES_tradnl" sz="2400" dirty="0"/>
              <a:t>Riqueza: Número de </a:t>
            </a:r>
            <a:r>
              <a:rPr lang="es-ES_tradnl" sz="2400" dirty="0" err="1"/>
              <a:t>taxas</a:t>
            </a:r>
            <a:r>
              <a:rPr lang="es-ES_tradnl" sz="2400" dirty="0"/>
              <a:t> diferentes</a:t>
            </a:r>
          </a:p>
          <a:p>
            <a:r>
              <a:rPr lang="es-ES_tradnl" sz="2400" dirty="0"/>
              <a:t>Equitatividad: ¿Qué tan diferentes son las abundancias de las especies?</a:t>
            </a:r>
          </a:p>
          <a:p>
            <a:r>
              <a:rPr lang="es-ES_tradnl" sz="2400" dirty="0"/>
              <a:t>Mixtas: Consideran riqueza y equidad</a:t>
            </a:r>
          </a:p>
          <a:p>
            <a:endParaRPr lang="es-ES_tradnl" sz="2400" dirty="0"/>
          </a:p>
        </p:txBody>
      </p:sp>
      <p:sp>
        <p:nvSpPr>
          <p:cNvPr id="111" name="Marcador de contenido 110">
            <a:extLst>
              <a:ext uri="{FF2B5EF4-FFF2-40B4-BE49-F238E27FC236}">
                <a16:creationId xmlns:a16="http://schemas.microsoft.com/office/drawing/2014/main" id="{9E1791E6-0F6F-5751-8905-B74011F3C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12137" y="4262806"/>
            <a:ext cx="3537664" cy="2465416"/>
          </a:xfrm>
        </p:spPr>
        <p:txBody>
          <a:bodyPr>
            <a:normAutofit lnSpcReduction="10000"/>
          </a:bodyPr>
          <a:lstStyle/>
          <a:p>
            <a:pPr algn="ctr"/>
            <a:r>
              <a:rPr lang="es-ES_tradnl" sz="2000" dirty="0"/>
              <a:t>Especies observadas</a:t>
            </a:r>
          </a:p>
          <a:p>
            <a:pPr algn="ctr"/>
            <a:endParaRPr lang="es-ES_tradnl" sz="2000" dirty="0"/>
          </a:p>
          <a:p>
            <a:pPr algn="ctr"/>
            <a:r>
              <a:rPr lang="es-ES_tradnl" sz="2000" dirty="0"/>
              <a:t>Equitatividad</a:t>
            </a:r>
          </a:p>
          <a:p>
            <a:pPr algn="ctr"/>
            <a:endParaRPr lang="es-ES_tradnl" sz="2000" dirty="0"/>
          </a:p>
          <a:p>
            <a:pPr algn="ctr"/>
            <a:r>
              <a:rPr lang="es-ES_tradnl" sz="2000" dirty="0"/>
              <a:t>Shannon</a:t>
            </a:r>
          </a:p>
        </p:txBody>
      </p: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5B1BDDD-714E-D3B6-6CA1-35E4AF08BC42}"/>
              </a:ext>
            </a:extLst>
          </p:cNvPr>
          <p:cNvGrpSpPr/>
          <p:nvPr/>
        </p:nvGrpSpPr>
        <p:grpSpPr>
          <a:xfrm>
            <a:off x="9651179" y="4292038"/>
            <a:ext cx="1341232" cy="277653"/>
            <a:chOff x="9696502" y="4292038"/>
            <a:chExt cx="1341232" cy="277653"/>
          </a:xfrm>
        </p:grpSpPr>
        <p:sp>
          <p:nvSpPr>
            <p:cNvPr id="112" name="Elipse 111">
              <a:extLst>
                <a:ext uri="{FF2B5EF4-FFF2-40B4-BE49-F238E27FC236}">
                  <a16:creationId xmlns:a16="http://schemas.microsoft.com/office/drawing/2014/main" id="{03D4CE46-6A34-E1F3-0F27-FAEA5400B460}"/>
                </a:ext>
              </a:extLst>
            </p:cNvPr>
            <p:cNvSpPr/>
            <p:nvPr/>
          </p:nvSpPr>
          <p:spPr>
            <a:xfrm>
              <a:off x="9696502" y="4292038"/>
              <a:ext cx="278295" cy="27765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D3A43830-1FF0-C7B1-0D78-96028384C293}"/>
                </a:ext>
              </a:extLst>
            </p:cNvPr>
            <p:cNvSpPr/>
            <p:nvPr/>
          </p:nvSpPr>
          <p:spPr>
            <a:xfrm>
              <a:off x="10759439" y="4292038"/>
              <a:ext cx="278295" cy="27765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4" name="Elipse 113">
              <a:extLst>
                <a:ext uri="{FF2B5EF4-FFF2-40B4-BE49-F238E27FC236}">
                  <a16:creationId xmlns:a16="http://schemas.microsoft.com/office/drawing/2014/main" id="{BBEA6EF1-B02F-AEF8-BAA7-D8E9248F583C}"/>
                </a:ext>
              </a:extLst>
            </p:cNvPr>
            <p:cNvSpPr/>
            <p:nvPr/>
          </p:nvSpPr>
          <p:spPr>
            <a:xfrm>
              <a:off x="10251594" y="4292038"/>
              <a:ext cx="278295" cy="27765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3C7F004F-2C35-420C-AFDB-62A3E5394686}"/>
              </a:ext>
            </a:extLst>
          </p:cNvPr>
          <p:cNvSpPr txBox="1"/>
          <p:nvPr/>
        </p:nvSpPr>
        <p:spPr>
          <a:xfrm>
            <a:off x="9308755" y="3788054"/>
            <a:ext cx="1988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Mayor           Menor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2E1BC63E-09C4-BDD3-BE2D-DEAB2C279C71}"/>
              </a:ext>
            </a:extLst>
          </p:cNvPr>
          <p:cNvGrpSpPr/>
          <p:nvPr/>
        </p:nvGrpSpPr>
        <p:grpSpPr>
          <a:xfrm>
            <a:off x="9651179" y="5053947"/>
            <a:ext cx="1341232" cy="277653"/>
            <a:chOff x="9696502" y="4292038"/>
            <a:chExt cx="1341232" cy="277653"/>
          </a:xfrm>
        </p:grpSpPr>
        <p:sp>
          <p:nvSpPr>
            <p:cNvPr id="124" name="Elipse 123">
              <a:extLst>
                <a:ext uri="{FF2B5EF4-FFF2-40B4-BE49-F238E27FC236}">
                  <a16:creationId xmlns:a16="http://schemas.microsoft.com/office/drawing/2014/main" id="{A2CF73CA-34B8-6B74-D8DF-98C1DE30BE67}"/>
                </a:ext>
              </a:extLst>
            </p:cNvPr>
            <p:cNvSpPr/>
            <p:nvPr/>
          </p:nvSpPr>
          <p:spPr>
            <a:xfrm>
              <a:off x="9696502" y="4292038"/>
              <a:ext cx="278295" cy="27765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5" name="Elipse 124">
              <a:extLst>
                <a:ext uri="{FF2B5EF4-FFF2-40B4-BE49-F238E27FC236}">
                  <a16:creationId xmlns:a16="http://schemas.microsoft.com/office/drawing/2014/main" id="{9D0CF8C9-F18A-D0CE-15CB-FE0D7E6E2031}"/>
                </a:ext>
              </a:extLst>
            </p:cNvPr>
            <p:cNvSpPr/>
            <p:nvPr/>
          </p:nvSpPr>
          <p:spPr>
            <a:xfrm>
              <a:off x="10759439" y="4292038"/>
              <a:ext cx="278295" cy="27765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6" name="Elipse 125">
              <a:extLst>
                <a:ext uri="{FF2B5EF4-FFF2-40B4-BE49-F238E27FC236}">
                  <a16:creationId xmlns:a16="http://schemas.microsoft.com/office/drawing/2014/main" id="{EC25664D-76D5-9A62-710B-4305E7CD0FF2}"/>
                </a:ext>
              </a:extLst>
            </p:cNvPr>
            <p:cNvSpPr/>
            <p:nvPr/>
          </p:nvSpPr>
          <p:spPr>
            <a:xfrm>
              <a:off x="10251594" y="4292038"/>
              <a:ext cx="278295" cy="27765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D16AEB2-59FD-E49C-8AE8-F49CF554B189}"/>
              </a:ext>
            </a:extLst>
          </p:cNvPr>
          <p:cNvGrpSpPr/>
          <p:nvPr/>
        </p:nvGrpSpPr>
        <p:grpSpPr>
          <a:xfrm>
            <a:off x="9651179" y="5711717"/>
            <a:ext cx="1341232" cy="277653"/>
            <a:chOff x="9696502" y="4292038"/>
            <a:chExt cx="1341232" cy="277653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1953952C-9A39-435A-52B9-8FBC002B280B}"/>
                </a:ext>
              </a:extLst>
            </p:cNvPr>
            <p:cNvSpPr/>
            <p:nvPr/>
          </p:nvSpPr>
          <p:spPr>
            <a:xfrm>
              <a:off x="9696502" y="4292038"/>
              <a:ext cx="278295" cy="27765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B850AAA5-0C00-DB06-9FE0-122518612FA6}"/>
                </a:ext>
              </a:extLst>
            </p:cNvPr>
            <p:cNvSpPr/>
            <p:nvPr/>
          </p:nvSpPr>
          <p:spPr>
            <a:xfrm>
              <a:off x="10759439" y="4292038"/>
              <a:ext cx="278295" cy="27765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5970868-0472-99E6-5A88-2018EF03AFD0}"/>
                </a:ext>
              </a:extLst>
            </p:cNvPr>
            <p:cNvSpPr/>
            <p:nvPr/>
          </p:nvSpPr>
          <p:spPr>
            <a:xfrm>
              <a:off x="10251594" y="4292038"/>
              <a:ext cx="278295" cy="27765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64C02EAB-18C9-1759-8BBD-A26E1DB5A5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97" t="54315" r="68604" b="37573"/>
          <a:stretch>
            <a:fillRect/>
          </a:stretch>
        </p:blipFill>
        <p:spPr>
          <a:xfrm>
            <a:off x="615716" y="5252117"/>
            <a:ext cx="4454339" cy="1457613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E78DAB28-273B-1449-ECFF-26EB3C50956C}"/>
              </a:ext>
            </a:extLst>
          </p:cNvPr>
          <p:cNvGrpSpPr/>
          <p:nvPr/>
        </p:nvGrpSpPr>
        <p:grpSpPr>
          <a:xfrm>
            <a:off x="6194427" y="1936096"/>
            <a:ext cx="5536363" cy="1696008"/>
            <a:chOff x="6194427" y="1936096"/>
            <a:chExt cx="5536363" cy="1696008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8EB5EB7F-80D7-6403-A9A6-A944629DA9E8}"/>
                </a:ext>
              </a:extLst>
            </p:cNvPr>
            <p:cNvGrpSpPr/>
            <p:nvPr/>
          </p:nvGrpSpPr>
          <p:grpSpPr>
            <a:xfrm>
              <a:off x="6194427" y="1936096"/>
              <a:ext cx="5536363" cy="1696008"/>
              <a:chOff x="6194427" y="1936096"/>
              <a:chExt cx="5536363" cy="1696008"/>
            </a:xfrm>
          </p:grpSpPr>
          <p:grpSp>
            <p:nvGrpSpPr>
              <p:cNvPr id="127" name="Grupo 126">
                <a:extLst>
                  <a:ext uri="{FF2B5EF4-FFF2-40B4-BE49-F238E27FC236}">
                    <a16:creationId xmlns:a16="http://schemas.microsoft.com/office/drawing/2014/main" id="{08E0E79F-3CDB-D407-41BE-3EBF0CB5705C}"/>
                  </a:ext>
                </a:extLst>
              </p:cNvPr>
              <p:cNvGrpSpPr/>
              <p:nvPr/>
            </p:nvGrpSpPr>
            <p:grpSpPr>
              <a:xfrm>
                <a:off x="6194427" y="1936096"/>
                <a:ext cx="5536363" cy="1696008"/>
                <a:chOff x="6194427" y="1936096"/>
                <a:chExt cx="5536363" cy="1696008"/>
              </a:xfrm>
            </p:grpSpPr>
            <p:grpSp>
              <p:nvGrpSpPr>
                <p:cNvPr id="101" name="Grupo 100">
                  <a:extLst>
                    <a:ext uri="{FF2B5EF4-FFF2-40B4-BE49-F238E27FC236}">
                      <a16:creationId xmlns:a16="http://schemas.microsoft.com/office/drawing/2014/main" id="{434B2C77-ED1B-5B55-0E9C-2729169A642D}"/>
                    </a:ext>
                  </a:extLst>
                </p:cNvPr>
                <p:cNvGrpSpPr/>
                <p:nvPr/>
              </p:nvGrpSpPr>
              <p:grpSpPr>
                <a:xfrm>
                  <a:off x="6194427" y="1936096"/>
                  <a:ext cx="5536363" cy="1696008"/>
                  <a:chOff x="1025665" y="1847850"/>
                  <a:chExt cx="9851324" cy="2742391"/>
                </a:xfrm>
              </p:grpSpPr>
              <p:grpSp>
                <p:nvGrpSpPr>
                  <p:cNvPr id="68" name="Grupo 67">
                    <a:extLst>
                      <a:ext uri="{FF2B5EF4-FFF2-40B4-BE49-F238E27FC236}">
                        <a16:creationId xmlns:a16="http://schemas.microsoft.com/office/drawing/2014/main" id="{4CB44B93-8795-CBB1-F2FF-460AAB4CBCE2}"/>
                      </a:ext>
                    </a:extLst>
                  </p:cNvPr>
                  <p:cNvGrpSpPr/>
                  <p:nvPr/>
                </p:nvGrpSpPr>
                <p:grpSpPr>
                  <a:xfrm>
                    <a:off x="1025665" y="1876556"/>
                    <a:ext cx="2789011" cy="2684979"/>
                    <a:chOff x="1357620" y="2320098"/>
                    <a:chExt cx="2789011" cy="2684979"/>
                  </a:xfrm>
                </p:grpSpPr>
                <p:sp>
                  <p:nvSpPr>
                    <p:cNvPr id="4" name="Elipse 3">
                      <a:extLst>
                        <a:ext uri="{FF2B5EF4-FFF2-40B4-BE49-F238E27FC236}">
                          <a16:creationId xmlns:a16="http://schemas.microsoft.com/office/drawing/2014/main" id="{7D964ADE-A3BF-1D43-FC50-97CEFA437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7620" y="2320098"/>
                      <a:ext cx="2789011" cy="2684979"/>
                    </a:xfrm>
                    <a:prstGeom prst="ellipse">
                      <a:avLst/>
                    </a:prstGeom>
                    <a:noFill/>
                    <a:ln w="28575"/>
                  </p:spPr>
                  <p:style>
                    <a:lnRef idx="2">
                      <a:schemeClr val="accent2"/>
                    </a:lnRef>
                    <a:fillRef idx="1">
                      <a:schemeClr val="lt1"/>
                    </a:fillRef>
                    <a:effectRef idx="0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_tradnl" dirty="0"/>
                    </a:p>
                  </p:txBody>
                </p:sp>
                <p:grpSp>
                  <p:nvGrpSpPr>
                    <p:cNvPr id="67" name="Grupo 66">
                      <a:extLst>
                        <a:ext uri="{FF2B5EF4-FFF2-40B4-BE49-F238E27FC236}">
                          <a16:creationId xmlns:a16="http://schemas.microsoft.com/office/drawing/2014/main" id="{59D874B6-497D-84A8-1F2E-50D277BD03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70803" y="2354226"/>
                      <a:ext cx="2129518" cy="2551107"/>
                      <a:chOff x="887407" y="3011009"/>
                      <a:chExt cx="2129518" cy="2551107"/>
                    </a:xfrm>
                  </p:grpSpPr>
                  <p:pic>
                    <p:nvPicPr>
                      <p:cNvPr id="47" name="Gráfico 46" descr="Rabbit contorno">
                        <a:extLst>
                          <a:ext uri="{FF2B5EF4-FFF2-40B4-BE49-F238E27FC236}">
                            <a16:creationId xmlns:a16="http://schemas.microsoft.com/office/drawing/2014/main" id="{98C07F2B-E09A-AE24-8EF6-B1A4DD6F59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091354" y="3076347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1" name="Gráfico 50" descr="Frog contorno">
                        <a:extLst>
                          <a:ext uri="{FF2B5EF4-FFF2-40B4-BE49-F238E27FC236}">
                            <a16:creationId xmlns:a16="http://schemas.microsoft.com/office/drawing/2014/main" id="{ECF2E94B-BA0A-5ED7-6D20-850B45F33D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102525" y="4647717"/>
                        <a:ext cx="914400" cy="914399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63" name="Grupo 62">
                        <a:extLst>
                          <a:ext uri="{FF2B5EF4-FFF2-40B4-BE49-F238E27FC236}">
                            <a16:creationId xmlns:a16="http://schemas.microsoft.com/office/drawing/2014/main" id="{46D1CA6A-4C54-DBDC-2BD6-925F3163B2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87407" y="3011009"/>
                        <a:ext cx="1400364" cy="1959479"/>
                        <a:chOff x="1063616" y="3035038"/>
                        <a:chExt cx="1400364" cy="1959479"/>
                      </a:xfrm>
                    </p:grpSpPr>
                    <p:pic>
                      <p:nvPicPr>
                        <p:cNvPr id="39" name="Gráfico 38" descr="Squirrel contorno">
                          <a:extLst>
                            <a:ext uri="{FF2B5EF4-FFF2-40B4-BE49-F238E27FC236}">
                              <a16:creationId xmlns:a16="http://schemas.microsoft.com/office/drawing/2014/main" id="{ECEB6EFC-345A-E413-79CA-FD96D20734F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6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9580" y="3035038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60" name="Gráfico 59" descr="Squirrel contorno">
                          <a:extLst>
                            <a:ext uri="{FF2B5EF4-FFF2-40B4-BE49-F238E27FC236}">
                              <a16:creationId xmlns:a16="http://schemas.microsoft.com/office/drawing/2014/main" id="{5B565D60-2E86-93FA-E230-2075A98F64D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6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6314" y="3429000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61" name="Gráfico 60" descr="Squirrel contorno">
                          <a:extLst>
                            <a:ext uri="{FF2B5EF4-FFF2-40B4-BE49-F238E27FC236}">
                              <a16:creationId xmlns:a16="http://schemas.microsoft.com/office/drawing/2014/main" id="{0CED0582-CF42-4D48-4C12-34809A8C7A8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6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3616" y="4080117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64" name="Gráfico 63" descr="Frog contorno">
                        <a:extLst>
                          <a:ext uri="{FF2B5EF4-FFF2-40B4-BE49-F238E27FC236}">
                            <a16:creationId xmlns:a16="http://schemas.microsoft.com/office/drawing/2014/main" id="{88C7E670-4318-0E65-2BF4-A7A02AB602A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722500" y="4315613"/>
                        <a:ext cx="914400" cy="914399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98" name="Grupo 97">
                    <a:extLst>
                      <a:ext uri="{FF2B5EF4-FFF2-40B4-BE49-F238E27FC236}">
                        <a16:creationId xmlns:a16="http://schemas.microsoft.com/office/drawing/2014/main" id="{E0DC641B-CD45-C23C-2755-2AEFEB508D4E}"/>
                      </a:ext>
                    </a:extLst>
                  </p:cNvPr>
                  <p:cNvGrpSpPr/>
                  <p:nvPr/>
                </p:nvGrpSpPr>
                <p:grpSpPr>
                  <a:xfrm>
                    <a:off x="8087978" y="1876556"/>
                    <a:ext cx="2789011" cy="2684979"/>
                    <a:chOff x="7150941" y="3323598"/>
                    <a:chExt cx="2789011" cy="2684979"/>
                  </a:xfrm>
                </p:grpSpPr>
                <p:grpSp>
                  <p:nvGrpSpPr>
                    <p:cNvPr id="91" name="Grupo 90">
                      <a:extLst>
                        <a:ext uri="{FF2B5EF4-FFF2-40B4-BE49-F238E27FC236}">
                          <a16:creationId xmlns:a16="http://schemas.microsoft.com/office/drawing/2014/main" id="{1ED92B80-0092-453A-F329-FEA38A606C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50941" y="3323598"/>
                      <a:ext cx="2789011" cy="2684979"/>
                      <a:chOff x="7402532" y="2427858"/>
                      <a:chExt cx="2789011" cy="2684979"/>
                    </a:xfrm>
                  </p:grpSpPr>
                  <p:pic>
                    <p:nvPicPr>
                      <p:cNvPr id="85" name="Gráfico 84" descr="Gecko contorno">
                        <a:extLst>
                          <a:ext uri="{FF2B5EF4-FFF2-40B4-BE49-F238E27FC236}">
                            <a16:creationId xmlns:a16="http://schemas.microsoft.com/office/drawing/2014/main" id="{0AB78241-307D-CD2B-E8F9-235635056B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660248" y="2977873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90" name="Grupo 89">
                        <a:extLst>
                          <a:ext uri="{FF2B5EF4-FFF2-40B4-BE49-F238E27FC236}">
                            <a16:creationId xmlns:a16="http://schemas.microsoft.com/office/drawing/2014/main" id="{10A797D7-08B6-6085-337A-30902840A7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02532" y="2427858"/>
                        <a:ext cx="2789011" cy="2684979"/>
                        <a:chOff x="7402532" y="2427858"/>
                        <a:chExt cx="2789011" cy="2684979"/>
                      </a:xfrm>
                    </p:grpSpPr>
                    <p:sp>
                      <p:nvSpPr>
                        <p:cNvPr id="5" name="Elipse 4">
                          <a:extLst>
                            <a:ext uri="{FF2B5EF4-FFF2-40B4-BE49-F238E27FC236}">
                              <a16:creationId xmlns:a16="http://schemas.microsoft.com/office/drawing/2014/main" id="{BFEA1AAB-A8A4-6E69-1ED2-CCABC2B8F3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02532" y="2427858"/>
                          <a:ext cx="2789011" cy="2684979"/>
                        </a:xfrm>
                        <a:prstGeom prst="ellipse">
                          <a:avLst/>
                        </a:prstGeom>
                        <a:noFill/>
                        <a:ln w="28575"/>
                      </p:spPr>
                      <p:style>
                        <a:lnRef idx="2">
                          <a:schemeClr val="accent3"/>
                        </a:lnRef>
                        <a:fillRef idx="1">
                          <a:schemeClr val="lt1"/>
                        </a:fillRef>
                        <a:effectRef idx="0">
                          <a:schemeClr val="accent3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_tradnl" dirty="0"/>
                        </a:p>
                      </p:txBody>
                    </p:sp>
                    <p:pic>
                      <p:nvPicPr>
                        <p:cNvPr id="43" name="Gráfico 42" descr="Gecko contorno">
                          <a:extLst>
                            <a:ext uri="{FF2B5EF4-FFF2-40B4-BE49-F238E27FC236}">
                              <a16:creationId xmlns:a16="http://schemas.microsoft.com/office/drawing/2014/main" id="{DF746E77-A751-3304-1049-3C4E1AF8107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29009" y="2459954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4" name="Gráfico 83" descr="Gecko contorno">
                          <a:extLst>
                            <a:ext uri="{FF2B5EF4-FFF2-40B4-BE49-F238E27FC236}">
                              <a16:creationId xmlns:a16="http://schemas.microsoft.com/office/drawing/2014/main" id="{4964C8C7-D969-1C9B-ED0E-E8D3D0E9628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110822" y="3248681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6" name="Gráfico 85" descr="Gecko contorno">
                          <a:extLst>
                            <a:ext uri="{FF2B5EF4-FFF2-40B4-BE49-F238E27FC236}">
                              <a16:creationId xmlns:a16="http://schemas.microsoft.com/office/drawing/2014/main" id="{87F6F793-09AF-3633-650C-EC25909F8A9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23060" y="2500802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96" name="Gráfico 95" descr="Gecko contorno">
                      <a:extLst>
                        <a:ext uri="{FF2B5EF4-FFF2-40B4-BE49-F238E27FC236}">
                          <a16:creationId xmlns:a16="http://schemas.microsoft.com/office/drawing/2014/main" id="{70B5FE4F-0AA1-326B-28E1-3BA84ABC487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364026" y="5015100"/>
                      <a:ext cx="914400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7" name="Gráfico 96" descr="Gecko contorno">
                      <a:extLst>
                        <a:ext uri="{FF2B5EF4-FFF2-40B4-BE49-F238E27FC236}">
                          <a16:creationId xmlns:a16="http://schemas.microsoft.com/office/drawing/2014/main" id="{87FE4886-F6F6-06AD-CC7A-C8F3F16B1A5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416749" y="3984000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83" name="Grupo 82">
                    <a:extLst>
                      <a:ext uri="{FF2B5EF4-FFF2-40B4-BE49-F238E27FC236}">
                        <a16:creationId xmlns:a16="http://schemas.microsoft.com/office/drawing/2014/main" id="{EF9641E7-1659-E682-50FF-1C2DD19C1280}"/>
                      </a:ext>
                    </a:extLst>
                  </p:cNvPr>
                  <p:cNvGrpSpPr/>
                  <p:nvPr/>
                </p:nvGrpSpPr>
                <p:grpSpPr>
                  <a:xfrm>
                    <a:off x="4559831" y="1847850"/>
                    <a:ext cx="5212899" cy="2742391"/>
                    <a:chOff x="3942838" y="3091622"/>
                    <a:chExt cx="5212899" cy="2742391"/>
                  </a:xfrm>
                </p:grpSpPr>
                <p:grpSp>
                  <p:nvGrpSpPr>
                    <p:cNvPr id="82" name="Grupo 81">
                      <a:extLst>
                        <a:ext uri="{FF2B5EF4-FFF2-40B4-BE49-F238E27FC236}">
                          <a16:creationId xmlns:a16="http://schemas.microsoft.com/office/drawing/2014/main" id="{C601A1E7-6278-5AAC-213C-DB2FD17039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42838" y="3091622"/>
                      <a:ext cx="5212899" cy="2742391"/>
                      <a:chOff x="3682320" y="2370758"/>
                      <a:chExt cx="5212899" cy="2742391"/>
                    </a:xfrm>
                  </p:grpSpPr>
                  <p:sp>
                    <p:nvSpPr>
                      <p:cNvPr id="6" name="Elipse 5">
                        <a:extLst>
                          <a:ext uri="{FF2B5EF4-FFF2-40B4-BE49-F238E27FC236}">
                            <a16:creationId xmlns:a16="http://schemas.microsoft.com/office/drawing/2014/main" id="{975908C2-2538-0789-FD21-5044F07020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82320" y="2370758"/>
                        <a:ext cx="2789011" cy="2684979"/>
                      </a:xfrm>
                      <a:prstGeom prst="ellipse">
                        <a:avLst/>
                      </a:prstGeom>
                      <a:noFill/>
                      <a:ln w="28575"/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_tradnl"/>
                      </a:p>
                    </p:txBody>
                  </p:sp>
                  <p:grpSp>
                    <p:nvGrpSpPr>
                      <p:cNvPr id="78" name="Grupo 77">
                        <a:extLst>
                          <a:ext uri="{FF2B5EF4-FFF2-40B4-BE49-F238E27FC236}">
                            <a16:creationId xmlns:a16="http://schemas.microsoft.com/office/drawing/2014/main" id="{3D151A5A-99D2-F2AE-DB97-0B3B656F78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20843" y="3421275"/>
                        <a:ext cx="1807566" cy="1691874"/>
                        <a:chOff x="4757492" y="3421275"/>
                        <a:chExt cx="1807566" cy="1691874"/>
                      </a:xfrm>
                    </p:grpSpPr>
                    <p:pic>
                      <p:nvPicPr>
                        <p:cNvPr id="65" name="Gráfico 64" descr="Frog contorno">
                          <a:extLst>
                            <a:ext uri="{FF2B5EF4-FFF2-40B4-BE49-F238E27FC236}">
                              <a16:creationId xmlns:a16="http://schemas.microsoft.com/office/drawing/2014/main" id="{EC2BDDDF-3C9E-B683-110B-33E6E88B537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52907" y="3629282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69" name="Gráfico 68" descr="Frog contorno">
                          <a:extLst>
                            <a:ext uri="{FF2B5EF4-FFF2-40B4-BE49-F238E27FC236}">
                              <a16:creationId xmlns:a16="http://schemas.microsoft.com/office/drawing/2014/main" id="{6040BD97-5C38-E2FB-AE15-0821A230A21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57492" y="4198749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1" name="Gráfico 70" descr="Frog contorno">
                          <a:extLst>
                            <a:ext uri="{FF2B5EF4-FFF2-40B4-BE49-F238E27FC236}">
                              <a16:creationId xmlns:a16="http://schemas.microsoft.com/office/drawing/2014/main" id="{CA51C796-C30C-C12A-2B60-262E81777CCA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50658" y="3421275"/>
                          <a:ext cx="914400" cy="914399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2" name="Gráfico 71" descr="Frog contorno">
                          <a:extLst>
                            <a:ext uri="{FF2B5EF4-FFF2-40B4-BE49-F238E27FC236}">
                              <a16:creationId xmlns:a16="http://schemas.microsoft.com/office/drawing/2014/main" id="{547D6464-357E-5FE1-F85B-BE78E80C538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40908" y="4070299"/>
                          <a:ext cx="914400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79" name="Grupo 78">
                        <a:extLst>
                          <a:ext uri="{FF2B5EF4-FFF2-40B4-BE49-F238E27FC236}">
                            <a16:creationId xmlns:a16="http://schemas.microsoft.com/office/drawing/2014/main" id="{C2955537-21E2-97F7-5F11-A5B52EFEDC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04498" y="2622320"/>
                        <a:ext cx="3590721" cy="1818171"/>
                        <a:chOff x="6621660" y="4917065"/>
                        <a:chExt cx="3590721" cy="1818171"/>
                      </a:xfrm>
                    </p:grpSpPr>
                    <p:pic>
                      <p:nvPicPr>
                        <p:cNvPr id="76" name="Gráfico 75" descr="Rabbit contorno">
                          <a:extLst>
                            <a:ext uri="{FF2B5EF4-FFF2-40B4-BE49-F238E27FC236}">
                              <a16:creationId xmlns:a16="http://schemas.microsoft.com/office/drawing/2014/main" id="{BB050F39-38EB-5D3E-1620-BDFDF0AE74B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4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621660" y="4917065"/>
                          <a:ext cx="914399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7" name="Gráfico 76" descr="Rabbit contorno">
                          <a:extLst>
                            <a:ext uri="{FF2B5EF4-FFF2-40B4-BE49-F238E27FC236}">
                              <a16:creationId xmlns:a16="http://schemas.microsoft.com/office/drawing/2014/main" id="{3B76F5A8-1C6C-1F19-F68C-A876169B8AE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4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297981" y="5820837"/>
                          <a:ext cx="914400" cy="914399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80" name="Gráfico 79" descr="Squirrel contorno">
                      <a:extLst>
                        <a:ext uri="{FF2B5EF4-FFF2-40B4-BE49-F238E27FC236}">
                          <a16:creationId xmlns:a16="http://schemas.microsoft.com/office/drawing/2014/main" id="{A91AECA8-06A7-194B-CA2D-5519A949B8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205972" y="3440726"/>
                      <a:ext cx="977970" cy="977970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17" name="Gráfico 116" descr="Frog contorno">
                  <a:extLst>
                    <a:ext uri="{FF2B5EF4-FFF2-40B4-BE49-F238E27FC236}">
                      <a16:creationId xmlns:a16="http://schemas.microsoft.com/office/drawing/2014/main" id="{B064F8A7-2420-E875-D62D-A7084F33ED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55985" y="3006892"/>
                  <a:ext cx="513885" cy="565503"/>
                </a:xfrm>
                <a:prstGeom prst="rect">
                  <a:avLst/>
                </a:prstGeom>
              </p:spPr>
            </p:pic>
            <p:pic>
              <p:nvPicPr>
                <p:cNvPr id="118" name="Gráfico 117" descr="Rabbit contorno">
                  <a:extLst>
                    <a:ext uri="{FF2B5EF4-FFF2-40B4-BE49-F238E27FC236}">
                      <a16:creationId xmlns:a16="http://schemas.microsoft.com/office/drawing/2014/main" id="{B5BF413A-2000-9C09-E58E-87CE5CA303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74869" y="2413233"/>
                  <a:ext cx="513885" cy="565503"/>
                </a:xfrm>
                <a:prstGeom prst="rect">
                  <a:avLst/>
                </a:prstGeom>
              </p:spPr>
            </p:pic>
            <p:pic>
              <p:nvPicPr>
                <p:cNvPr id="119" name="Gráfico 118" descr="Rabbit contorno">
                  <a:extLst>
                    <a:ext uri="{FF2B5EF4-FFF2-40B4-BE49-F238E27FC236}">
                      <a16:creationId xmlns:a16="http://schemas.microsoft.com/office/drawing/2014/main" id="{BFC65220-C01D-62CC-E20E-C8EFE11312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6168" y="2417826"/>
                  <a:ext cx="513885" cy="565503"/>
                </a:xfrm>
                <a:prstGeom prst="rect">
                  <a:avLst/>
                </a:prstGeom>
              </p:spPr>
            </p:pic>
            <p:pic>
              <p:nvPicPr>
                <p:cNvPr id="121" name="Gráfico 120" descr="Frog contorno">
                  <a:extLst>
                    <a:ext uri="{FF2B5EF4-FFF2-40B4-BE49-F238E27FC236}">
                      <a16:creationId xmlns:a16="http://schemas.microsoft.com/office/drawing/2014/main" id="{5E7F6E38-3F50-D8BF-C964-9861489C1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93317" y="2362237"/>
                  <a:ext cx="513885" cy="565502"/>
                </a:xfrm>
                <a:prstGeom prst="rect">
                  <a:avLst/>
                </a:prstGeom>
              </p:spPr>
            </p:pic>
            <p:pic>
              <p:nvPicPr>
                <p:cNvPr id="122" name="Gráfico 121" descr="Frog contorno">
                  <a:extLst>
                    <a:ext uri="{FF2B5EF4-FFF2-40B4-BE49-F238E27FC236}">
                      <a16:creationId xmlns:a16="http://schemas.microsoft.com/office/drawing/2014/main" id="{34D76244-8021-3364-A454-2D46D96BD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93249" y="2920562"/>
                  <a:ext cx="513885" cy="565502"/>
                </a:xfrm>
                <a:prstGeom prst="rect">
                  <a:avLst/>
                </a:prstGeom>
              </p:spPr>
            </p:pic>
          </p:grpSp>
          <p:pic>
            <p:nvPicPr>
              <p:cNvPr id="133" name="Gráfico 132" descr="Rabbit contorno">
                <a:extLst>
                  <a:ext uri="{FF2B5EF4-FFF2-40B4-BE49-F238E27FC236}">
                    <a16:creationId xmlns:a16="http://schemas.microsoft.com/office/drawing/2014/main" id="{26BDD61F-1E24-0FCE-B3AD-9A073C0DE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698245" y="1947423"/>
                <a:ext cx="513885" cy="565502"/>
              </a:xfrm>
              <a:prstGeom prst="rect">
                <a:avLst/>
              </a:prstGeom>
            </p:spPr>
          </p:pic>
        </p:grpSp>
        <p:pic>
          <p:nvPicPr>
            <p:cNvPr id="7" name="Gráfico 6" descr="Gecko contorno">
              <a:extLst>
                <a:ext uri="{FF2B5EF4-FFF2-40B4-BE49-F238E27FC236}">
                  <a16:creationId xmlns:a16="http://schemas.microsoft.com/office/drawing/2014/main" id="{38E97F2D-1060-6785-D84A-4E5F36A365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4546" y="2602304"/>
              <a:ext cx="513885" cy="565503"/>
            </a:xfrm>
            <a:prstGeom prst="rect">
              <a:avLst/>
            </a:prstGeom>
          </p:spPr>
        </p:pic>
        <p:pic>
          <p:nvPicPr>
            <p:cNvPr id="14" name="Gráfico 13" descr="Gecko contorno">
              <a:extLst>
                <a:ext uri="{FF2B5EF4-FFF2-40B4-BE49-F238E27FC236}">
                  <a16:creationId xmlns:a16="http://schemas.microsoft.com/office/drawing/2014/main" id="{49225D8F-C865-1239-2C9A-D8148D8C69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86668" y="2756808"/>
              <a:ext cx="494210" cy="543852"/>
            </a:xfrm>
            <a:prstGeom prst="rect">
              <a:avLst/>
            </a:prstGeom>
          </p:spPr>
        </p:pic>
        <p:pic>
          <p:nvPicPr>
            <p:cNvPr id="15" name="Gráfico 14" descr="Gecko contorno">
              <a:extLst>
                <a:ext uri="{FF2B5EF4-FFF2-40B4-BE49-F238E27FC236}">
                  <a16:creationId xmlns:a16="http://schemas.microsoft.com/office/drawing/2014/main" id="{D88EFC1A-C624-DF10-1A40-0F49754A84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22741" y="3032773"/>
              <a:ext cx="494210" cy="543852"/>
            </a:xfrm>
            <a:prstGeom prst="rect">
              <a:avLst/>
            </a:prstGeom>
          </p:spPr>
        </p:pic>
        <p:pic>
          <p:nvPicPr>
            <p:cNvPr id="16" name="Gráfico 15" descr="Gecko contorno">
              <a:extLst>
                <a:ext uri="{FF2B5EF4-FFF2-40B4-BE49-F238E27FC236}">
                  <a16:creationId xmlns:a16="http://schemas.microsoft.com/office/drawing/2014/main" id="{EC5C8258-58D8-AF0B-A578-732AAC12E5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23987" y="2688827"/>
              <a:ext cx="513885" cy="5655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250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36D2A-690A-1CF7-8009-43DB0ED8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Análisis de diversidad: Beta diversidad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AA6D32-9EF6-B1B6-03BC-FAA01DE4B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sz="2800" dirty="0"/>
              <a:t>¿Qué tan diferentes son dos o más comunidades?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3EB809-FB1F-2F81-3AF0-EF1F446331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ES_tradnl" sz="2400" dirty="0"/>
              <a:t>No ponderadas: Identidad taxonómica</a:t>
            </a:r>
          </a:p>
          <a:p>
            <a:pPr lvl="1"/>
            <a:r>
              <a:rPr lang="es-ES_tradnl" sz="2000" dirty="0"/>
              <a:t>Jaccard / </a:t>
            </a:r>
            <a:r>
              <a:rPr lang="es-ES_tradnl" sz="2000" dirty="0" err="1"/>
              <a:t>Unweighted</a:t>
            </a:r>
            <a:r>
              <a:rPr lang="es-ES_tradnl" sz="2000" dirty="0"/>
              <a:t> </a:t>
            </a:r>
            <a:r>
              <a:rPr lang="es-ES_tradnl" sz="2000" dirty="0" err="1"/>
              <a:t>UniFrac</a:t>
            </a:r>
            <a:endParaRPr lang="es-ES_tradnl" sz="2000" dirty="0"/>
          </a:p>
          <a:p>
            <a:endParaRPr lang="es-ES_tradnl" sz="2400" dirty="0"/>
          </a:p>
          <a:p>
            <a:r>
              <a:rPr lang="es-ES_tradnl" sz="2400" dirty="0"/>
              <a:t>Ponderadas: Identidad taxonómica y abundancia </a:t>
            </a:r>
          </a:p>
          <a:p>
            <a:pPr lvl="1"/>
            <a:r>
              <a:rPr lang="es-ES_tradnl" sz="2000" dirty="0"/>
              <a:t>Bray-Curtis / </a:t>
            </a:r>
            <a:r>
              <a:rPr lang="es-ES_tradnl" sz="2000" dirty="0" err="1"/>
              <a:t>Weighted</a:t>
            </a:r>
            <a:r>
              <a:rPr lang="es-ES_tradnl" sz="2000" dirty="0"/>
              <a:t> </a:t>
            </a:r>
            <a:r>
              <a:rPr lang="es-ES_tradnl" sz="2000" dirty="0" err="1"/>
              <a:t>UniFrac</a:t>
            </a:r>
            <a:endParaRPr lang="es-ES_tradnl" sz="2000" dirty="0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20B4747-E790-7EA2-DD59-DEE5CA6EF627}"/>
              </a:ext>
            </a:extLst>
          </p:cNvPr>
          <p:cNvGrpSpPr/>
          <p:nvPr/>
        </p:nvGrpSpPr>
        <p:grpSpPr>
          <a:xfrm>
            <a:off x="9843575" y="1977937"/>
            <a:ext cx="1629956" cy="1568667"/>
            <a:chOff x="7199333" y="3190445"/>
            <a:chExt cx="2518580" cy="2205645"/>
          </a:xfrm>
        </p:grpSpPr>
        <p:grpSp>
          <p:nvGrpSpPr>
            <p:cNvPr id="48" name="Grupo 47">
              <a:extLst>
                <a:ext uri="{FF2B5EF4-FFF2-40B4-BE49-F238E27FC236}">
                  <a16:creationId xmlns:a16="http://schemas.microsoft.com/office/drawing/2014/main" id="{1870E554-8EFA-8033-8B5F-C7BB449EDBFE}"/>
                </a:ext>
              </a:extLst>
            </p:cNvPr>
            <p:cNvGrpSpPr/>
            <p:nvPr/>
          </p:nvGrpSpPr>
          <p:grpSpPr>
            <a:xfrm>
              <a:off x="7199333" y="3557661"/>
              <a:ext cx="2518580" cy="1838429"/>
              <a:chOff x="1757835" y="3571765"/>
              <a:chExt cx="2518580" cy="1838429"/>
            </a:xfrm>
          </p:grpSpPr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419832B1-63ED-4D2A-8CF1-C3BD3262285D}"/>
                  </a:ext>
                </a:extLst>
              </p:cNvPr>
              <p:cNvGrpSpPr/>
              <p:nvPr/>
            </p:nvGrpSpPr>
            <p:grpSpPr>
              <a:xfrm>
                <a:off x="1792619" y="3571765"/>
                <a:ext cx="2447171" cy="1662471"/>
                <a:chOff x="1091975" y="3117347"/>
                <a:chExt cx="2447171" cy="1662471"/>
              </a:xfrm>
            </p:grpSpPr>
            <p:cxnSp>
              <p:nvCxnSpPr>
                <p:cNvPr id="128" name="Conector recto 127">
                  <a:extLst>
                    <a:ext uri="{FF2B5EF4-FFF2-40B4-BE49-F238E27FC236}">
                      <a16:creationId xmlns:a16="http://schemas.microsoft.com/office/drawing/2014/main" id="{015428DE-4AF9-4332-9DB3-14DD675A44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0254" y="4405746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Conector recto 128">
                  <a:extLst>
                    <a:ext uri="{FF2B5EF4-FFF2-40B4-BE49-F238E27FC236}">
                      <a16:creationId xmlns:a16="http://schemas.microsoft.com/office/drawing/2014/main" id="{08BFED0E-32AD-CE14-A4CF-59F3AF19C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39636" y="4405746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Conector recto 129">
                  <a:extLst>
                    <a:ext uri="{FF2B5EF4-FFF2-40B4-BE49-F238E27FC236}">
                      <a16:creationId xmlns:a16="http://schemas.microsoft.com/office/drawing/2014/main" id="{77E8D3B8-5814-5D29-22EC-7FC3D2E3F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61992" y="4059383"/>
                  <a:ext cx="0" cy="720435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Conector recto 130">
                  <a:extLst>
                    <a:ext uri="{FF2B5EF4-FFF2-40B4-BE49-F238E27FC236}">
                      <a16:creationId xmlns:a16="http://schemas.microsoft.com/office/drawing/2014/main" id="{6365DA1D-928D-7066-398F-F9D3EC5CBE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4570" y="3685311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Conector recto 131">
                  <a:extLst>
                    <a:ext uri="{FF2B5EF4-FFF2-40B4-BE49-F238E27FC236}">
                      <a16:creationId xmlns:a16="http://schemas.microsoft.com/office/drawing/2014/main" id="{9F2E7ABA-D8D0-A1E8-B991-4AA199A89B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14945" y="4059383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Conector recto 132">
                  <a:extLst>
                    <a:ext uri="{FF2B5EF4-FFF2-40B4-BE49-F238E27FC236}">
                      <a16:creationId xmlns:a16="http://schemas.microsoft.com/office/drawing/2014/main" id="{C9028331-A7DD-46A8-3FAF-FD414E2D1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69199" y="3685311"/>
                  <a:ext cx="0" cy="1094507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Conector recto 133">
                  <a:extLst>
                    <a:ext uri="{FF2B5EF4-FFF2-40B4-BE49-F238E27FC236}">
                      <a16:creationId xmlns:a16="http://schemas.microsoft.com/office/drawing/2014/main" id="{31F69F10-718D-4024-C35A-501F6DD15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7973" y="3498275"/>
                  <a:ext cx="0" cy="187036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Conector recto 134">
                  <a:extLst>
                    <a:ext uri="{FF2B5EF4-FFF2-40B4-BE49-F238E27FC236}">
                      <a16:creationId xmlns:a16="http://schemas.microsoft.com/office/drawing/2014/main" id="{6091E50F-FCD3-FC14-C24C-A4447A92BF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61008" y="4433455"/>
                  <a:ext cx="302607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Conector recto 135">
                  <a:extLst>
                    <a:ext uri="{FF2B5EF4-FFF2-40B4-BE49-F238E27FC236}">
                      <a16:creationId xmlns:a16="http://schemas.microsoft.com/office/drawing/2014/main" id="{BAD3728A-14A5-854A-A8C6-794FB899C6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7919" y="4059383"/>
                  <a:ext cx="400578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Conector recto 136">
                  <a:extLst>
                    <a:ext uri="{FF2B5EF4-FFF2-40B4-BE49-F238E27FC236}">
                      <a16:creationId xmlns:a16="http://schemas.microsoft.com/office/drawing/2014/main" id="{6E2C1319-DCC6-4FAF-860E-9C28877D9A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97684" y="3690049"/>
                  <a:ext cx="400578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Conector recto 137">
                  <a:extLst>
                    <a:ext uri="{FF2B5EF4-FFF2-40B4-BE49-F238E27FC236}">
                      <a16:creationId xmlns:a16="http://schemas.microsoft.com/office/drawing/2014/main" id="{A81B037B-96BE-1145-6274-8FD12E1691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505" y="4405746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Conector recto 138">
                  <a:extLst>
                    <a:ext uri="{FF2B5EF4-FFF2-40B4-BE49-F238E27FC236}">
                      <a16:creationId xmlns:a16="http://schemas.microsoft.com/office/drawing/2014/main" id="{C319E879-4610-AAA3-DD0C-768E6F56C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71887" y="4405746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Conector recto 139">
                  <a:extLst>
                    <a:ext uri="{FF2B5EF4-FFF2-40B4-BE49-F238E27FC236}">
                      <a16:creationId xmlns:a16="http://schemas.microsoft.com/office/drawing/2014/main" id="{C4C93EA2-9C97-9CAC-7320-6BB70B9C38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7196" y="3491418"/>
                  <a:ext cx="0" cy="942037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Conector recto 140">
                  <a:extLst>
                    <a:ext uri="{FF2B5EF4-FFF2-40B4-BE49-F238E27FC236}">
                      <a16:creationId xmlns:a16="http://schemas.microsoft.com/office/drawing/2014/main" id="{A349479E-1B18-15D7-C9A0-2E9B0C618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1975" y="4433455"/>
                  <a:ext cx="312475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Conector recto 141">
                  <a:extLst>
                    <a:ext uri="{FF2B5EF4-FFF2-40B4-BE49-F238E27FC236}">
                      <a16:creationId xmlns:a16="http://schemas.microsoft.com/office/drawing/2014/main" id="{641EB931-615A-9A3E-4DB0-A7846FC0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2374" y="3491418"/>
                  <a:ext cx="1000800" cy="6857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Conector recto 142">
                  <a:extLst>
                    <a:ext uri="{FF2B5EF4-FFF2-40B4-BE49-F238E27FC236}">
                      <a16:creationId xmlns:a16="http://schemas.microsoft.com/office/drawing/2014/main" id="{9235AE06-4321-3559-FDE1-4B56791E47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22774" y="3124203"/>
                  <a:ext cx="0" cy="374072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4DA6EC28-894C-7623-02C2-5124430057FA}"/>
                    </a:ext>
                  </a:extLst>
                </p:cNvPr>
                <p:cNvGrpSpPr/>
                <p:nvPr/>
              </p:nvGrpSpPr>
              <p:grpSpPr>
                <a:xfrm flipH="1">
                  <a:off x="2802449" y="3685311"/>
                  <a:ext cx="736697" cy="1094507"/>
                  <a:chOff x="2773760" y="3685311"/>
                  <a:chExt cx="736697" cy="1094507"/>
                </a:xfrm>
              </p:grpSpPr>
              <p:cxnSp>
                <p:nvCxnSpPr>
                  <p:cNvPr id="147" name="Conector recto 146">
                    <a:extLst>
                      <a:ext uri="{FF2B5EF4-FFF2-40B4-BE49-F238E27FC236}">
                        <a16:creationId xmlns:a16="http://schemas.microsoft.com/office/drawing/2014/main" id="{6F1E2C32-F658-0A5B-0E50-2F0A5E8E65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02449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Conector recto 147">
                    <a:extLst>
                      <a:ext uri="{FF2B5EF4-FFF2-40B4-BE49-F238E27FC236}">
                        <a16:creationId xmlns:a16="http://schemas.microsoft.com/office/drawing/2014/main" id="{30573C44-151B-33E3-8196-02404EBDCA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51831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Conector recto 148">
                    <a:extLst>
                      <a:ext uri="{FF2B5EF4-FFF2-40B4-BE49-F238E27FC236}">
                        <a16:creationId xmlns:a16="http://schemas.microsoft.com/office/drawing/2014/main" id="{1E6D4A81-8728-4770-2D11-C2F477EC7C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74187" y="4059383"/>
                    <a:ext cx="0" cy="720435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Conector recto 149">
                    <a:extLst>
                      <a:ext uri="{FF2B5EF4-FFF2-40B4-BE49-F238E27FC236}">
                        <a16:creationId xmlns:a16="http://schemas.microsoft.com/office/drawing/2014/main" id="{23D7CF3F-5F23-DE83-1982-C841CAE71D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36765" y="3685311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Conector recto 150">
                    <a:extLst>
                      <a:ext uri="{FF2B5EF4-FFF2-40B4-BE49-F238E27FC236}">
                        <a16:creationId xmlns:a16="http://schemas.microsoft.com/office/drawing/2014/main" id="{A2B9160F-FC2F-AA77-96BA-C46447576F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7140" y="4059383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Conector recto 151">
                    <a:extLst>
                      <a:ext uri="{FF2B5EF4-FFF2-40B4-BE49-F238E27FC236}">
                        <a16:creationId xmlns:a16="http://schemas.microsoft.com/office/drawing/2014/main" id="{F704D988-79BC-98E1-9F40-D2D75C96B3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81394" y="3685311"/>
                    <a:ext cx="0" cy="1094507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Conector recto 152">
                    <a:extLst>
                      <a:ext uri="{FF2B5EF4-FFF2-40B4-BE49-F238E27FC236}">
                        <a16:creationId xmlns:a16="http://schemas.microsoft.com/office/drawing/2014/main" id="{E544FD0F-6AB5-C406-79F4-485CFDF3AB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73760" y="4433455"/>
                    <a:ext cx="302607" cy="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Conector recto 153">
                    <a:extLst>
                      <a:ext uri="{FF2B5EF4-FFF2-40B4-BE49-F238E27FC236}">
                        <a16:creationId xmlns:a16="http://schemas.microsoft.com/office/drawing/2014/main" id="{AAB64A65-2ABE-3C61-D90C-92C51F5307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00114" y="4059383"/>
                    <a:ext cx="400578" cy="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Conector recto 154">
                    <a:extLst>
                      <a:ext uri="{FF2B5EF4-FFF2-40B4-BE49-F238E27FC236}">
                        <a16:creationId xmlns:a16="http://schemas.microsoft.com/office/drawing/2014/main" id="{268B262D-E78E-E76A-9BC2-F19E5F3225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09879" y="3690049"/>
                    <a:ext cx="400578" cy="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5" name="Conector recto 144">
                  <a:extLst>
                    <a:ext uri="{FF2B5EF4-FFF2-40B4-BE49-F238E27FC236}">
                      <a16:creationId xmlns:a16="http://schemas.microsoft.com/office/drawing/2014/main" id="{4168D3C0-4F48-D356-66F9-5F6B0FF9BF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7573" y="3117347"/>
                  <a:ext cx="1314641" cy="0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Conector recto 145">
                  <a:extLst>
                    <a:ext uri="{FF2B5EF4-FFF2-40B4-BE49-F238E27FC236}">
                      <a16:creationId xmlns:a16="http://schemas.microsoft.com/office/drawing/2014/main" id="{BE388889-F0AD-46E6-3D2F-43C7A0E2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7252" y="3124203"/>
                  <a:ext cx="0" cy="561108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8" name="Triángulo 117">
                <a:extLst>
                  <a:ext uri="{FF2B5EF4-FFF2-40B4-BE49-F238E27FC236}">
                    <a16:creationId xmlns:a16="http://schemas.microsoft.com/office/drawing/2014/main" id="{A8249E06-6710-2DCA-F997-7E562DB20AE2}"/>
                  </a:ext>
                </a:extLst>
              </p:cNvPr>
              <p:cNvSpPr/>
              <p:nvPr/>
            </p:nvSpPr>
            <p:spPr>
              <a:xfrm>
                <a:off x="1757835" y="5312413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19" name="Triángulo 118">
                <a:extLst>
                  <a:ext uri="{FF2B5EF4-FFF2-40B4-BE49-F238E27FC236}">
                    <a16:creationId xmlns:a16="http://schemas.microsoft.com/office/drawing/2014/main" id="{8CC984F5-47E2-0379-6A47-E20B1F50A307}"/>
                  </a:ext>
                </a:extLst>
              </p:cNvPr>
              <p:cNvSpPr/>
              <p:nvPr/>
            </p:nvSpPr>
            <p:spPr>
              <a:xfrm>
                <a:off x="2267589" y="5312412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0" name="Triángulo 119">
                <a:extLst>
                  <a:ext uri="{FF2B5EF4-FFF2-40B4-BE49-F238E27FC236}">
                    <a16:creationId xmlns:a16="http://schemas.microsoft.com/office/drawing/2014/main" id="{0D4A86A1-3B0F-6AB5-37AA-87143954F9C8}"/>
                  </a:ext>
                </a:extLst>
              </p:cNvPr>
              <p:cNvSpPr/>
              <p:nvPr/>
            </p:nvSpPr>
            <p:spPr>
              <a:xfrm>
                <a:off x="2007217" y="5312412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1" name="Triángulo 120">
                <a:extLst>
                  <a:ext uri="{FF2B5EF4-FFF2-40B4-BE49-F238E27FC236}">
                    <a16:creationId xmlns:a16="http://schemas.microsoft.com/office/drawing/2014/main" id="{EA4B988A-6310-417C-6BA9-C709201EB45E}"/>
                  </a:ext>
                </a:extLst>
              </p:cNvPr>
              <p:cNvSpPr/>
              <p:nvPr/>
            </p:nvSpPr>
            <p:spPr>
              <a:xfrm>
                <a:off x="2574966" y="5312411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2" name="Triángulo 121">
                <a:extLst>
                  <a:ext uri="{FF2B5EF4-FFF2-40B4-BE49-F238E27FC236}">
                    <a16:creationId xmlns:a16="http://schemas.microsoft.com/office/drawing/2014/main" id="{A431B518-8C0B-6C39-A2D3-C23CB528B8A7}"/>
                  </a:ext>
                </a:extLst>
              </p:cNvPr>
              <p:cNvSpPr/>
              <p:nvPr/>
            </p:nvSpPr>
            <p:spPr>
              <a:xfrm>
                <a:off x="2797322" y="5312411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3" name="Triángulo 122">
                <a:extLst>
                  <a:ext uri="{FF2B5EF4-FFF2-40B4-BE49-F238E27FC236}">
                    <a16:creationId xmlns:a16="http://schemas.microsoft.com/office/drawing/2014/main" id="{9A5F38D9-2877-1300-DE70-EB4F96A8D846}"/>
                  </a:ext>
                </a:extLst>
              </p:cNvPr>
              <p:cNvSpPr/>
              <p:nvPr/>
            </p:nvSpPr>
            <p:spPr>
              <a:xfrm>
                <a:off x="3019406" y="5304796"/>
                <a:ext cx="130628" cy="95003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4" name="Triángulo 123">
                <a:extLst>
                  <a:ext uri="{FF2B5EF4-FFF2-40B4-BE49-F238E27FC236}">
                    <a16:creationId xmlns:a16="http://schemas.microsoft.com/office/drawing/2014/main" id="{0A6F4ECE-5ABB-295A-33A3-28A7A1CC7517}"/>
                  </a:ext>
                </a:extLst>
              </p:cNvPr>
              <p:cNvSpPr/>
              <p:nvPr/>
            </p:nvSpPr>
            <p:spPr>
              <a:xfrm>
                <a:off x="4145787" y="5304795"/>
                <a:ext cx="130628" cy="95003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5" name="Triángulo 124">
                <a:extLst>
                  <a:ext uri="{FF2B5EF4-FFF2-40B4-BE49-F238E27FC236}">
                    <a16:creationId xmlns:a16="http://schemas.microsoft.com/office/drawing/2014/main" id="{241840D2-4ECE-E0C8-2CAE-B052BE838908}"/>
                  </a:ext>
                </a:extLst>
              </p:cNvPr>
              <p:cNvSpPr/>
              <p:nvPr/>
            </p:nvSpPr>
            <p:spPr>
              <a:xfrm>
                <a:off x="3896405" y="5300192"/>
                <a:ext cx="130628" cy="95003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6" name="Triángulo 125">
                <a:extLst>
                  <a:ext uri="{FF2B5EF4-FFF2-40B4-BE49-F238E27FC236}">
                    <a16:creationId xmlns:a16="http://schemas.microsoft.com/office/drawing/2014/main" id="{FC8F0A35-2BBA-DDA8-F3C0-D37BBF35629A}"/>
                  </a:ext>
                </a:extLst>
              </p:cNvPr>
              <p:cNvSpPr/>
              <p:nvPr/>
            </p:nvSpPr>
            <p:spPr>
              <a:xfrm>
                <a:off x="3680043" y="5312411"/>
                <a:ext cx="130628" cy="95003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27" name="Triángulo 126">
                <a:extLst>
                  <a:ext uri="{FF2B5EF4-FFF2-40B4-BE49-F238E27FC236}">
                    <a16:creationId xmlns:a16="http://schemas.microsoft.com/office/drawing/2014/main" id="{CE0A82CB-41AE-8519-ECA1-63D631DDB2BC}"/>
                  </a:ext>
                </a:extLst>
              </p:cNvPr>
              <p:cNvSpPr/>
              <p:nvPr/>
            </p:nvSpPr>
            <p:spPr>
              <a:xfrm>
                <a:off x="3463681" y="5315191"/>
                <a:ext cx="130628" cy="95003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</p:grp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DF9985D9-B3F5-3FA9-187E-C382FF63A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8623" y="3190445"/>
              <a:ext cx="0" cy="37407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3F9C0121-8FC4-5D31-B31F-6E31BA875A1B}"/>
              </a:ext>
            </a:extLst>
          </p:cNvPr>
          <p:cNvGrpSpPr/>
          <p:nvPr/>
        </p:nvGrpSpPr>
        <p:grpSpPr>
          <a:xfrm>
            <a:off x="8149374" y="3940471"/>
            <a:ext cx="2936381" cy="369332"/>
            <a:chOff x="4487966" y="5988676"/>
            <a:chExt cx="2936381" cy="369332"/>
          </a:xfrm>
        </p:grpSpPr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E4C533CF-8171-B916-3E8A-9C56CBF0AFB6}"/>
                </a:ext>
              </a:extLst>
            </p:cNvPr>
            <p:cNvSpPr txBox="1"/>
            <p:nvPr/>
          </p:nvSpPr>
          <p:spPr>
            <a:xfrm>
              <a:off x="4487966" y="5988676"/>
              <a:ext cx="2936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/>
                <a:t>Distancia = (       ) / (       +      )</a:t>
              </a:r>
            </a:p>
          </p:txBody>
        </p: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6650B25B-1570-8E1C-9D0E-76FF78F8B527}"/>
                </a:ext>
              </a:extLst>
            </p:cNvPr>
            <p:cNvCxnSpPr>
              <a:cxnSpLocks/>
            </p:cNvCxnSpPr>
            <p:nvPr/>
          </p:nvCxnSpPr>
          <p:spPr>
            <a:xfrm>
              <a:off x="5853125" y="6180099"/>
              <a:ext cx="206062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7721E667-0A99-AFEC-72B9-C42964EF45F9}"/>
                </a:ext>
              </a:extLst>
            </p:cNvPr>
            <p:cNvCxnSpPr>
              <a:cxnSpLocks/>
            </p:cNvCxnSpPr>
            <p:nvPr/>
          </p:nvCxnSpPr>
          <p:spPr>
            <a:xfrm>
              <a:off x="6900675" y="6180099"/>
              <a:ext cx="206062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67FE31A-CF36-B46F-FAFF-EA2CACB2EDD1}"/>
                </a:ext>
              </a:extLst>
            </p:cNvPr>
            <p:cNvCxnSpPr>
              <a:cxnSpLocks/>
            </p:cNvCxnSpPr>
            <p:nvPr/>
          </p:nvCxnSpPr>
          <p:spPr>
            <a:xfrm>
              <a:off x="6486788" y="6180099"/>
              <a:ext cx="20606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28338386-F254-011D-2872-620CF062A2D9}"/>
              </a:ext>
            </a:extLst>
          </p:cNvPr>
          <p:cNvGrpSpPr/>
          <p:nvPr/>
        </p:nvGrpSpPr>
        <p:grpSpPr>
          <a:xfrm>
            <a:off x="7910051" y="4686024"/>
            <a:ext cx="973419" cy="921479"/>
            <a:chOff x="478630" y="4876513"/>
            <a:chExt cx="1500189" cy="1325563"/>
          </a:xfrm>
        </p:grpSpPr>
        <p:grpSp>
          <p:nvGrpSpPr>
            <p:cNvPr id="163" name="Grupo 162">
              <a:extLst>
                <a:ext uri="{FF2B5EF4-FFF2-40B4-BE49-F238E27FC236}">
                  <a16:creationId xmlns:a16="http://schemas.microsoft.com/office/drawing/2014/main" id="{557AC2B3-F682-5FC3-3625-BF1A41C86DD8}"/>
                </a:ext>
              </a:extLst>
            </p:cNvPr>
            <p:cNvGrpSpPr/>
            <p:nvPr/>
          </p:nvGrpSpPr>
          <p:grpSpPr>
            <a:xfrm>
              <a:off x="478630" y="4876513"/>
              <a:ext cx="1500189" cy="1325563"/>
              <a:chOff x="1044853" y="2675789"/>
              <a:chExt cx="2115139" cy="1953940"/>
            </a:xfrm>
          </p:grpSpPr>
          <p:cxnSp>
            <p:nvCxnSpPr>
              <p:cNvPr id="172" name="Conector recto 171">
                <a:extLst>
                  <a:ext uri="{FF2B5EF4-FFF2-40B4-BE49-F238E27FC236}">
                    <a16:creationId xmlns:a16="http://schemas.microsoft.com/office/drawing/2014/main" id="{79C54B51-3451-87FF-FD2E-EB73298DD4D0}"/>
                  </a:ext>
                </a:extLst>
              </p:cNvPr>
              <p:cNvCxnSpPr/>
              <p:nvPr/>
            </p:nvCxnSpPr>
            <p:spPr>
              <a:xfrm>
                <a:off x="1057835" y="2675789"/>
                <a:ext cx="0" cy="195394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Conector recto 172">
                <a:extLst>
                  <a:ext uri="{FF2B5EF4-FFF2-40B4-BE49-F238E27FC236}">
                    <a16:creationId xmlns:a16="http://schemas.microsoft.com/office/drawing/2014/main" id="{8EACAB49-0869-D5AE-0000-CE43ACE6F6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4853" y="4629729"/>
                <a:ext cx="211513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Triángulo 163">
              <a:extLst>
                <a:ext uri="{FF2B5EF4-FFF2-40B4-BE49-F238E27FC236}">
                  <a16:creationId xmlns:a16="http://schemas.microsoft.com/office/drawing/2014/main" id="{2D9C101C-3D7F-5425-CEF3-6D41F02AD1F4}"/>
                </a:ext>
              </a:extLst>
            </p:cNvPr>
            <p:cNvSpPr/>
            <p:nvPr/>
          </p:nvSpPr>
          <p:spPr>
            <a:xfrm>
              <a:off x="686831" y="5199256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5" name="Triángulo 164">
              <a:extLst>
                <a:ext uri="{FF2B5EF4-FFF2-40B4-BE49-F238E27FC236}">
                  <a16:creationId xmlns:a16="http://schemas.microsoft.com/office/drawing/2014/main" id="{E5BCBB3E-AF03-78BE-4E7A-D59130B1A60F}"/>
                </a:ext>
              </a:extLst>
            </p:cNvPr>
            <p:cNvSpPr/>
            <p:nvPr/>
          </p:nvSpPr>
          <p:spPr>
            <a:xfrm>
              <a:off x="843722" y="5532639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6" name="Triángulo 165">
              <a:extLst>
                <a:ext uri="{FF2B5EF4-FFF2-40B4-BE49-F238E27FC236}">
                  <a16:creationId xmlns:a16="http://schemas.microsoft.com/office/drawing/2014/main" id="{6C82F42F-11A9-7C66-2353-9755BF0FA78F}"/>
                </a:ext>
              </a:extLst>
            </p:cNvPr>
            <p:cNvSpPr/>
            <p:nvPr/>
          </p:nvSpPr>
          <p:spPr>
            <a:xfrm>
              <a:off x="1142136" y="5634865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7" name="Triángulo 166">
              <a:extLst>
                <a:ext uri="{FF2B5EF4-FFF2-40B4-BE49-F238E27FC236}">
                  <a16:creationId xmlns:a16="http://schemas.microsoft.com/office/drawing/2014/main" id="{5B9234CA-2C57-34A1-223E-C2AA98E23ED4}"/>
                </a:ext>
              </a:extLst>
            </p:cNvPr>
            <p:cNvSpPr/>
            <p:nvPr/>
          </p:nvSpPr>
          <p:spPr>
            <a:xfrm>
              <a:off x="965746" y="5851121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8" name="Triángulo 167">
              <a:extLst>
                <a:ext uri="{FF2B5EF4-FFF2-40B4-BE49-F238E27FC236}">
                  <a16:creationId xmlns:a16="http://schemas.microsoft.com/office/drawing/2014/main" id="{B514EF80-FE81-AD09-418F-C86CB42F8207}"/>
                </a:ext>
              </a:extLst>
            </p:cNvPr>
            <p:cNvSpPr/>
            <p:nvPr/>
          </p:nvSpPr>
          <p:spPr>
            <a:xfrm>
              <a:off x="1165019" y="5294259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9" name="Triángulo 168">
              <a:extLst>
                <a:ext uri="{FF2B5EF4-FFF2-40B4-BE49-F238E27FC236}">
                  <a16:creationId xmlns:a16="http://schemas.microsoft.com/office/drawing/2014/main" id="{919EDEE9-A82E-89EF-DECC-98108559DC86}"/>
                </a:ext>
              </a:extLst>
            </p:cNvPr>
            <p:cNvSpPr/>
            <p:nvPr/>
          </p:nvSpPr>
          <p:spPr>
            <a:xfrm>
              <a:off x="1422946" y="5767432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0" name="Triángulo 169">
              <a:extLst>
                <a:ext uri="{FF2B5EF4-FFF2-40B4-BE49-F238E27FC236}">
                  <a16:creationId xmlns:a16="http://schemas.microsoft.com/office/drawing/2014/main" id="{1CBA05E4-E541-A997-42CE-613B992FDDAB}"/>
                </a:ext>
              </a:extLst>
            </p:cNvPr>
            <p:cNvSpPr/>
            <p:nvPr/>
          </p:nvSpPr>
          <p:spPr>
            <a:xfrm>
              <a:off x="1544028" y="5405235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1" name="Triángulo 170">
              <a:extLst>
                <a:ext uri="{FF2B5EF4-FFF2-40B4-BE49-F238E27FC236}">
                  <a16:creationId xmlns:a16="http://schemas.microsoft.com/office/drawing/2014/main" id="{F16DA83F-53F4-6ED8-30B9-09C4260C78EF}"/>
                </a:ext>
              </a:extLst>
            </p:cNvPr>
            <p:cNvSpPr/>
            <p:nvPr/>
          </p:nvSpPr>
          <p:spPr>
            <a:xfrm>
              <a:off x="1727746" y="5746492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06A3558C-D1A1-EC12-608E-A6D2A8739196}"/>
              </a:ext>
            </a:extLst>
          </p:cNvPr>
          <p:cNvGrpSpPr/>
          <p:nvPr/>
        </p:nvGrpSpPr>
        <p:grpSpPr>
          <a:xfrm>
            <a:off x="10224769" y="4686024"/>
            <a:ext cx="973419" cy="921479"/>
            <a:chOff x="478630" y="4876513"/>
            <a:chExt cx="1500189" cy="1325563"/>
          </a:xfrm>
        </p:grpSpPr>
        <p:grpSp>
          <p:nvGrpSpPr>
            <p:cNvPr id="175" name="Grupo 174">
              <a:extLst>
                <a:ext uri="{FF2B5EF4-FFF2-40B4-BE49-F238E27FC236}">
                  <a16:creationId xmlns:a16="http://schemas.microsoft.com/office/drawing/2014/main" id="{8CBE4E1A-DA59-613C-AB32-D5BE61FB14B4}"/>
                </a:ext>
              </a:extLst>
            </p:cNvPr>
            <p:cNvGrpSpPr/>
            <p:nvPr/>
          </p:nvGrpSpPr>
          <p:grpSpPr>
            <a:xfrm>
              <a:off x="478630" y="4876513"/>
              <a:ext cx="1500189" cy="1325563"/>
              <a:chOff x="1044853" y="2675789"/>
              <a:chExt cx="2115139" cy="1953940"/>
            </a:xfrm>
          </p:grpSpPr>
          <p:cxnSp>
            <p:nvCxnSpPr>
              <p:cNvPr id="184" name="Conector recto 183">
                <a:extLst>
                  <a:ext uri="{FF2B5EF4-FFF2-40B4-BE49-F238E27FC236}">
                    <a16:creationId xmlns:a16="http://schemas.microsoft.com/office/drawing/2014/main" id="{28780112-31BD-93FF-0F81-31A9B74C8F35}"/>
                  </a:ext>
                </a:extLst>
              </p:cNvPr>
              <p:cNvCxnSpPr/>
              <p:nvPr/>
            </p:nvCxnSpPr>
            <p:spPr>
              <a:xfrm>
                <a:off x="1057835" y="2675789"/>
                <a:ext cx="0" cy="195394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ector recto 184">
                <a:extLst>
                  <a:ext uri="{FF2B5EF4-FFF2-40B4-BE49-F238E27FC236}">
                    <a16:creationId xmlns:a16="http://schemas.microsoft.com/office/drawing/2014/main" id="{20609C09-260C-BA79-B8D9-551448FDFE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4853" y="4629729"/>
                <a:ext cx="211513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Triángulo 175">
              <a:extLst>
                <a:ext uri="{FF2B5EF4-FFF2-40B4-BE49-F238E27FC236}">
                  <a16:creationId xmlns:a16="http://schemas.microsoft.com/office/drawing/2014/main" id="{F7C7186A-77DA-EAE9-CD3B-6AAE7A1FEABD}"/>
                </a:ext>
              </a:extLst>
            </p:cNvPr>
            <p:cNvSpPr/>
            <p:nvPr/>
          </p:nvSpPr>
          <p:spPr>
            <a:xfrm>
              <a:off x="686831" y="5199256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7" name="Triángulo 176">
              <a:extLst>
                <a:ext uri="{FF2B5EF4-FFF2-40B4-BE49-F238E27FC236}">
                  <a16:creationId xmlns:a16="http://schemas.microsoft.com/office/drawing/2014/main" id="{63397985-7113-7CE1-FB45-7EE6549AF087}"/>
                </a:ext>
              </a:extLst>
            </p:cNvPr>
            <p:cNvSpPr/>
            <p:nvPr/>
          </p:nvSpPr>
          <p:spPr>
            <a:xfrm>
              <a:off x="1519315" y="5999873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8" name="Triángulo 177">
              <a:extLst>
                <a:ext uri="{FF2B5EF4-FFF2-40B4-BE49-F238E27FC236}">
                  <a16:creationId xmlns:a16="http://schemas.microsoft.com/office/drawing/2014/main" id="{0E5E1446-2560-807D-296E-F3D9AA59218F}"/>
                </a:ext>
              </a:extLst>
            </p:cNvPr>
            <p:cNvSpPr/>
            <p:nvPr/>
          </p:nvSpPr>
          <p:spPr>
            <a:xfrm>
              <a:off x="922977" y="5158351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9" name="Triángulo 178">
              <a:extLst>
                <a:ext uri="{FF2B5EF4-FFF2-40B4-BE49-F238E27FC236}">
                  <a16:creationId xmlns:a16="http://schemas.microsoft.com/office/drawing/2014/main" id="{567D897D-099D-3241-3281-A002C7BB348F}"/>
                </a:ext>
              </a:extLst>
            </p:cNvPr>
            <p:cNvSpPr/>
            <p:nvPr/>
          </p:nvSpPr>
          <p:spPr>
            <a:xfrm>
              <a:off x="1187192" y="5971419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0" name="Triángulo 179">
              <a:extLst>
                <a:ext uri="{FF2B5EF4-FFF2-40B4-BE49-F238E27FC236}">
                  <a16:creationId xmlns:a16="http://schemas.microsoft.com/office/drawing/2014/main" id="{4B4B60E0-98B1-EFD9-4BDF-539186D44A55}"/>
                </a:ext>
              </a:extLst>
            </p:cNvPr>
            <p:cNvSpPr/>
            <p:nvPr/>
          </p:nvSpPr>
          <p:spPr>
            <a:xfrm>
              <a:off x="1113326" y="5101021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1" name="Triángulo 180">
              <a:extLst>
                <a:ext uri="{FF2B5EF4-FFF2-40B4-BE49-F238E27FC236}">
                  <a16:creationId xmlns:a16="http://schemas.microsoft.com/office/drawing/2014/main" id="{176E3446-2988-2AE3-5718-261E710E613D}"/>
                </a:ext>
              </a:extLst>
            </p:cNvPr>
            <p:cNvSpPr/>
            <p:nvPr/>
          </p:nvSpPr>
          <p:spPr>
            <a:xfrm>
              <a:off x="1422946" y="5767432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2" name="Triángulo 181">
              <a:extLst>
                <a:ext uri="{FF2B5EF4-FFF2-40B4-BE49-F238E27FC236}">
                  <a16:creationId xmlns:a16="http://schemas.microsoft.com/office/drawing/2014/main" id="{73638ED2-2D0C-35FE-9096-36C3ADC38821}"/>
                </a:ext>
              </a:extLst>
            </p:cNvPr>
            <p:cNvSpPr/>
            <p:nvPr/>
          </p:nvSpPr>
          <p:spPr>
            <a:xfrm>
              <a:off x="1639100" y="5578271"/>
              <a:ext cx="130628" cy="95003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3" name="Triángulo 182">
              <a:extLst>
                <a:ext uri="{FF2B5EF4-FFF2-40B4-BE49-F238E27FC236}">
                  <a16:creationId xmlns:a16="http://schemas.microsoft.com/office/drawing/2014/main" id="{96537991-BB5A-D978-113F-AE5D10C26775}"/>
                </a:ext>
              </a:extLst>
            </p:cNvPr>
            <p:cNvSpPr/>
            <p:nvPr/>
          </p:nvSpPr>
          <p:spPr>
            <a:xfrm>
              <a:off x="808066" y="4975169"/>
              <a:ext cx="130628" cy="95003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EE9FC274-4250-24D4-8C35-E488A975AC40}"/>
              </a:ext>
            </a:extLst>
          </p:cNvPr>
          <p:cNvSpPr txBox="1"/>
          <p:nvPr/>
        </p:nvSpPr>
        <p:spPr>
          <a:xfrm>
            <a:off x="7129918" y="5911454"/>
            <a:ext cx="236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/>
              <a:t>Comunidades parecidas</a:t>
            </a:r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BC7265BA-CC03-8F29-C88C-3B6999BF04AF}"/>
              </a:ext>
            </a:extLst>
          </p:cNvPr>
          <p:cNvSpPr txBox="1"/>
          <p:nvPr/>
        </p:nvSpPr>
        <p:spPr>
          <a:xfrm>
            <a:off x="9650350" y="5914953"/>
            <a:ext cx="2374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/>
              <a:t>Comunidades diferentes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F22D69EC-33DA-EA71-6C0E-DBA96405FC63}"/>
              </a:ext>
            </a:extLst>
          </p:cNvPr>
          <p:cNvGrpSpPr/>
          <p:nvPr/>
        </p:nvGrpSpPr>
        <p:grpSpPr>
          <a:xfrm>
            <a:off x="7512144" y="1974510"/>
            <a:ext cx="1629956" cy="1575520"/>
            <a:chOff x="7512144" y="1974510"/>
            <a:chExt cx="1629956" cy="157552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89A223A2-B541-677A-4B0E-265684F21915}"/>
                </a:ext>
              </a:extLst>
            </p:cNvPr>
            <p:cNvGrpSpPr/>
            <p:nvPr/>
          </p:nvGrpSpPr>
          <p:grpSpPr>
            <a:xfrm>
              <a:off x="7512144" y="1974510"/>
              <a:ext cx="1629956" cy="1575520"/>
              <a:chOff x="2159391" y="3183589"/>
              <a:chExt cx="2518580" cy="2215281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1A8D43EB-9DF4-0E3C-E91E-5E135EA452B6}"/>
                  </a:ext>
                </a:extLst>
              </p:cNvPr>
              <p:cNvGrpSpPr/>
              <p:nvPr/>
            </p:nvGrpSpPr>
            <p:grpSpPr>
              <a:xfrm>
                <a:off x="2159391" y="3557662"/>
                <a:ext cx="2518580" cy="1841208"/>
                <a:chOff x="1757835" y="3568986"/>
                <a:chExt cx="2518580" cy="1841208"/>
              </a:xfrm>
            </p:grpSpPr>
            <p:grpSp>
              <p:nvGrpSpPr>
                <p:cNvPr id="8" name="Grupo 7">
                  <a:extLst>
                    <a:ext uri="{FF2B5EF4-FFF2-40B4-BE49-F238E27FC236}">
                      <a16:creationId xmlns:a16="http://schemas.microsoft.com/office/drawing/2014/main" id="{5192CCC8-DDDA-3DC4-C8FF-6CFBF0F1436B}"/>
                    </a:ext>
                  </a:extLst>
                </p:cNvPr>
                <p:cNvGrpSpPr/>
                <p:nvPr/>
              </p:nvGrpSpPr>
              <p:grpSpPr>
                <a:xfrm>
                  <a:off x="1792619" y="3568986"/>
                  <a:ext cx="2447171" cy="1665250"/>
                  <a:chOff x="1091975" y="3114568"/>
                  <a:chExt cx="2447171" cy="1665250"/>
                </a:xfrm>
              </p:grpSpPr>
              <p:cxnSp>
                <p:nvCxnSpPr>
                  <p:cNvPr id="19" name="Conector recto 18">
                    <a:extLst>
                      <a:ext uri="{FF2B5EF4-FFF2-40B4-BE49-F238E27FC236}">
                        <a16:creationId xmlns:a16="http://schemas.microsoft.com/office/drawing/2014/main" id="{07B28842-AC49-3BCD-5E42-6172438E34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90254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Conector recto 19">
                    <a:extLst>
                      <a:ext uri="{FF2B5EF4-FFF2-40B4-BE49-F238E27FC236}">
                        <a16:creationId xmlns:a16="http://schemas.microsoft.com/office/drawing/2014/main" id="{55198AA0-7CBD-01C1-CAAA-66D97AEB1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39636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Conector recto 21">
                    <a:extLst>
                      <a:ext uri="{FF2B5EF4-FFF2-40B4-BE49-F238E27FC236}">
                        <a16:creationId xmlns:a16="http://schemas.microsoft.com/office/drawing/2014/main" id="{E7F9000D-3601-892F-95F0-4114C3CC5B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96679" y="3509270"/>
                    <a:ext cx="0" cy="572879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Conector recto 22">
                    <a:extLst>
                      <a:ext uri="{FF2B5EF4-FFF2-40B4-BE49-F238E27FC236}">
                        <a16:creationId xmlns:a16="http://schemas.microsoft.com/office/drawing/2014/main" id="{B719B73F-10E9-E464-040E-6F64998DF6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14945" y="4059383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Conector recto 25">
                    <a:extLst>
                      <a:ext uri="{FF2B5EF4-FFF2-40B4-BE49-F238E27FC236}">
                        <a16:creationId xmlns:a16="http://schemas.microsoft.com/office/drawing/2014/main" id="{FE3185E8-98E3-02B7-3B3F-40CEC07F88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61008" y="4433455"/>
                    <a:ext cx="302607" cy="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Conector recto 26">
                    <a:extLst>
                      <a:ext uri="{FF2B5EF4-FFF2-40B4-BE49-F238E27FC236}">
                        <a16:creationId xmlns:a16="http://schemas.microsoft.com/office/drawing/2014/main" id="{2168845A-3FED-5F88-993E-1272C73B67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7919" y="4059382"/>
                    <a:ext cx="549351" cy="0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Conector recto 28">
                    <a:extLst>
                      <a:ext uri="{FF2B5EF4-FFF2-40B4-BE49-F238E27FC236}">
                        <a16:creationId xmlns:a16="http://schemas.microsoft.com/office/drawing/2014/main" id="{46B65B45-F7FC-5BF4-A02D-BB1C2B15BC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22505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Conector recto 29">
                    <a:extLst>
                      <a:ext uri="{FF2B5EF4-FFF2-40B4-BE49-F238E27FC236}">
                        <a16:creationId xmlns:a16="http://schemas.microsoft.com/office/drawing/2014/main" id="{9EACC141-287B-074B-7FA5-137E48542F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1887" y="4405746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Conector recto 30">
                    <a:extLst>
                      <a:ext uri="{FF2B5EF4-FFF2-40B4-BE49-F238E27FC236}">
                        <a16:creationId xmlns:a16="http://schemas.microsoft.com/office/drawing/2014/main" id="{699F2D3C-FBF8-4D23-C15A-29E45F5D88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47196" y="3491418"/>
                    <a:ext cx="0" cy="942037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Conector recto 31">
                    <a:extLst>
                      <a:ext uri="{FF2B5EF4-FFF2-40B4-BE49-F238E27FC236}">
                        <a16:creationId xmlns:a16="http://schemas.microsoft.com/office/drawing/2014/main" id="{6FD56A95-3892-59CE-78A7-FB6CFFAAEC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1975" y="4433455"/>
                    <a:ext cx="312475" cy="0"/>
                  </a:xfrm>
                  <a:prstGeom prst="line">
                    <a:avLst/>
                  </a:prstGeom>
                  <a:ln w="571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Conector recto 32">
                    <a:extLst>
                      <a:ext uri="{FF2B5EF4-FFF2-40B4-BE49-F238E27FC236}">
                        <a16:creationId xmlns:a16="http://schemas.microsoft.com/office/drawing/2014/main" id="{64734C6C-CF9D-D38A-EEC6-BBB7E40208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22375" y="3491418"/>
                    <a:ext cx="874305" cy="0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Conector recto 33">
                    <a:extLst>
                      <a:ext uri="{FF2B5EF4-FFF2-40B4-BE49-F238E27FC236}">
                        <a16:creationId xmlns:a16="http://schemas.microsoft.com/office/drawing/2014/main" id="{66E41352-ED92-BD09-EE19-18932A1F0D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22774" y="3124203"/>
                    <a:ext cx="0" cy="374072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5" name="Grupo 34">
                    <a:extLst>
                      <a:ext uri="{FF2B5EF4-FFF2-40B4-BE49-F238E27FC236}">
                        <a16:creationId xmlns:a16="http://schemas.microsoft.com/office/drawing/2014/main" id="{1881CC01-3E93-DC42-4D7D-D60D1B81356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924413" y="3114568"/>
                    <a:ext cx="614733" cy="1665250"/>
                    <a:chOff x="2773760" y="3114568"/>
                    <a:chExt cx="614733" cy="1665250"/>
                  </a:xfrm>
                </p:grpSpPr>
                <p:cxnSp>
                  <p:nvCxnSpPr>
                    <p:cNvPr id="38" name="Conector recto 37">
                      <a:extLst>
                        <a:ext uri="{FF2B5EF4-FFF2-40B4-BE49-F238E27FC236}">
                          <a16:creationId xmlns:a16="http://schemas.microsoft.com/office/drawing/2014/main" id="{F2D942CB-2A61-0434-E39D-1105C3F51D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02449" y="4405746"/>
                      <a:ext cx="0" cy="374072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Conector recto 38">
                      <a:extLst>
                        <a:ext uri="{FF2B5EF4-FFF2-40B4-BE49-F238E27FC236}">
                          <a16:creationId xmlns:a16="http://schemas.microsoft.com/office/drawing/2014/main" id="{B3B6B901-3924-404F-AA07-94832CD517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051831" y="4405746"/>
                      <a:ext cx="0" cy="374072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Conector recto 40">
                      <a:extLst>
                        <a:ext uri="{FF2B5EF4-FFF2-40B4-BE49-F238E27FC236}">
                          <a16:creationId xmlns:a16="http://schemas.microsoft.com/office/drawing/2014/main" id="{4E9C079A-12E2-0F88-6A5E-7C716C27D1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17144" y="3114568"/>
                      <a:ext cx="8488" cy="917984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Conector recto 41">
                      <a:extLst>
                        <a:ext uri="{FF2B5EF4-FFF2-40B4-BE49-F238E27FC236}">
                          <a16:creationId xmlns:a16="http://schemas.microsoft.com/office/drawing/2014/main" id="{DAD0A130-E2E3-7443-38EF-C0D99A5DB0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7140" y="4059383"/>
                      <a:ext cx="0" cy="374072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Conector recto 43">
                      <a:extLst>
                        <a:ext uri="{FF2B5EF4-FFF2-40B4-BE49-F238E27FC236}">
                          <a16:creationId xmlns:a16="http://schemas.microsoft.com/office/drawing/2014/main" id="{7619374F-86F1-FDB4-C1D4-298A1345E9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73760" y="4433455"/>
                      <a:ext cx="302607" cy="0"/>
                    </a:xfrm>
                    <a:prstGeom prst="line">
                      <a:avLst/>
                    </a:prstGeom>
                    <a:ln w="5715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Conector recto 44">
                      <a:extLst>
                        <a:ext uri="{FF2B5EF4-FFF2-40B4-BE49-F238E27FC236}">
                          <a16:creationId xmlns:a16="http://schemas.microsoft.com/office/drawing/2014/main" id="{0CC9C0DE-E192-E5C8-F9E0-3F55D81AA4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0114" y="4059383"/>
                      <a:ext cx="488379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6" name="Conector recto 35">
                    <a:extLst>
                      <a:ext uri="{FF2B5EF4-FFF2-40B4-BE49-F238E27FC236}">
                        <a16:creationId xmlns:a16="http://schemas.microsoft.com/office/drawing/2014/main" id="{B6308E33-E38A-2B17-D06E-4050F2C37D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97572" y="3117347"/>
                    <a:ext cx="1478568" cy="0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Triángulo 8">
                  <a:extLst>
                    <a:ext uri="{FF2B5EF4-FFF2-40B4-BE49-F238E27FC236}">
                      <a16:creationId xmlns:a16="http://schemas.microsoft.com/office/drawing/2014/main" id="{4F8407C1-CBE5-7F85-734C-E51A9D02E324}"/>
                    </a:ext>
                  </a:extLst>
                </p:cNvPr>
                <p:cNvSpPr/>
                <p:nvPr/>
              </p:nvSpPr>
              <p:spPr>
                <a:xfrm>
                  <a:off x="1757835" y="5312413"/>
                  <a:ext cx="130628" cy="9500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0" name="Triángulo 9">
                  <a:extLst>
                    <a:ext uri="{FF2B5EF4-FFF2-40B4-BE49-F238E27FC236}">
                      <a16:creationId xmlns:a16="http://schemas.microsoft.com/office/drawing/2014/main" id="{9FCD1498-7C26-801F-73B8-78128F8171F3}"/>
                    </a:ext>
                  </a:extLst>
                </p:cNvPr>
                <p:cNvSpPr/>
                <p:nvPr/>
              </p:nvSpPr>
              <p:spPr>
                <a:xfrm>
                  <a:off x="2267589" y="5312412"/>
                  <a:ext cx="130628" cy="9500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1" name="Triángulo 10">
                  <a:extLst>
                    <a:ext uri="{FF2B5EF4-FFF2-40B4-BE49-F238E27FC236}">
                      <a16:creationId xmlns:a16="http://schemas.microsoft.com/office/drawing/2014/main" id="{C67F79E0-006C-89DD-F5D4-D40C62868243}"/>
                    </a:ext>
                  </a:extLst>
                </p:cNvPr>
                <p:cNvSpPr/>
                <p:nvPr/>
              </p:nvSpPr>
              <p:spPr>
                <a:xfrm>
                  <a:off x="2007217" y="5312412"/>
                  <a:ext cx="130628" cy="95003"/>
                </a:xfrm>
                <a:prstGeom prst="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2" name="Triángulo 11">
                  <a:extLst>
                    <a:ext uri="{FF2B5EF4-FFF2-40B4-BE49-F238E27FC236}">
                      <a16:creationId xmlns:a16="http://schemas.microsoft.com/office/drawing/2014/main" id="{BF6C205A-AE8D-A73B-D664-BD06C24BCEF9}"/>
                    </a:ext>
                  </a:extLst>
                </p:cNvPr>
                <p:cNvSpPr/>
                <p:nvPr/>
              </p:nvSpPr>
              <p:spPr>
                <a:xfrm>
                  <a:off x="2574966" y="5312411"/>
                  <a:ext cx="130628" cy="95003"/>
                </a:xfrm>
                <a:prstGeom prst="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3" name="Triángulo 12">
                  <a:extLst>
                    <a:ext uri="{FF2B5EF4-FFF2-40B4-BE49-F238E27FC236}">
                      <a16:creationId xmlns:a16="http://schemas.microsoft.com/office/drawing/2014/main" id="{8BC8AE7B-860B-692C-BA62-E27172588C00}"/>
                    </a:ext>
                  </a:extLst>
                </p:cNvPr>
                <p:cNvSpPr/>
                <p:nvPr/>
              </p:nvSpPr>
              <p:spPr>
                <a:xfrm>
                  <a:off x="2797322" y="5312411"/>
                  <a:ext cx="130628" cy="9500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4" name="Triángulo 13">
                  <a:extLst>
                    <a:ext uri="{FF2B5EF4-FFF2-40B4-BE49-F238E27FC236}">
                      <a16:creationId xmlns:a16="http://schemas.microsoft.com/office/drawing/2014/main" id="{2B656964-A4D6-0C5C-C2BB-C80726057D90}"/>
                    </a:ext>
                  </a:extLst>
                </p:cNvPr>
                <p:cNvSpPr/>
                <p:nvPr/>
              </p:nvSpPr>
              <p:spPr>
                <a:xfrm>
                  <a:off x="3019406" y="5304796"/>
                  <a:ext cx="130628" cy="95003"/>
                </a:xfrm>
                <a:prstGeom prst="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5" name="Triángulo 14">
                  <a:extLst>
                    <a:ext uri="{FF2B5EF4-FFF2-40B4-BE49-F238E27FC236}">
                      <a16:creationId xmlns:a16="http://schemas.microsoft.com/office/drawing/2014/main" id="{015BE437-D405-2D51-C9FB-EBDAB2C57FD5}"/>
                    </a:ext>
                  </a:extLst>
                </p:cNvPr>
                <p:cNvSpPr/>
                <p:nvPr/>
              </p:nvSpPr>
              <p:spPr>
                <a:xfrm>
                  <a:off x="4145787" y="5304795"/>
                  <a:ext cx="130628" cy="9500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6" name="Triángulo 15">
                  <a:extLst>
                    <a:ext uri="{FF2B5EF4-FFF2-40B4-BE49-F238E27FC236}">
                      <a16:creationId xmlns:a16="http://schemas.microsoft.com/office/drawing/2014/main" id="{F39ED19C-9476-7C22-4B28-5D5E7A855B82}"/>
                    </a:ext>
                  </a:extLst>
                </p:cNvPr>
                <p:cNvSpPr/>
                <p:nvPr/>
              </p:nvSpPr>
              <p:spPr>
                <a:xfrm>
                  <a:off x="3896405" y="5300192"/>
                  <a:ext cx="130628" cy="95003"/>
                </a:xfrm>
                <a:prstGeom prst="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7" name="Triángulo 16">
                  <a:extLst>
                    <a:ext uri="{FF2B5EF4-FFF2-40B4-BE49-F238E27FC236}">
                      <a16:creationId xmlns:a16="http://schemas.microsoft.com/office/drawing/2014/main" id="{10A1CFD2-5D8D-8CDA-727E-113E7F44C86E}"/>
                    </a:ext>
                  </a:extLst>
                </p:cNvPr>
                <p:cNvSpPr/>
                <p:nvPr/>
              </p:nvSpPr>
              <p:spPr>
                <a:xfrm>
                  <a:off x="3680043" y="5312411"/>
                  <a:ext cx="130628" cy="95003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BE439D2E-23CD-4DB0-45D4-E9B2FC327295}"/>
                    </a:ext>
                  </a:extLst>
                </p:cNvPr>
                <p:cNvSpPr/>
                <p:nvPr/>
              </p:nvSpPr>
              <p:spPr>
                <a:xfrm>
                  <a:off x="3463681" y="5315191"/>
                  <a:ext cx="130628" cy="95003"/>
                </a:xfrm>
                <a:prstGeom prst="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</p:grp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8370F319-6CF1-39DA-FDB4-04AEC748A8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18681" y="3183589"/>
                <a:ext cx="0" cy="37407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E227F2C9-FE5B-E26E-B5BD-A4A3BCA6C848}"/>
                </a:ext>
              </a:extLst>
            </p:cNvPr>
            <p:cNvCxnSpPr>
              <a:cxnSpLocks/>
            </p:cNvCxnSpPr>
            <p:nvPr/>
          </p:nvCxnSpPr>
          <p:spPr>
            <a:xfrm>
              <a:off x="8310882" y="2909400"/>
              <a:ext cx="0" cy="2660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8F34417F-4C7C-6ADE-7B34-3484520A31EB}"/>
                </a:ext>
              </a:extLst>
            </p:cNvPr>
            <p:cNvCxnSpPr>
              <a:cxnSpLocks/>
            </p:cNvCxnSpPr>
            <p:nvPr/>
          </p:nvCxnSpPr>
          <p:spPr>
            <a:xfrm>
              <a:off x="8209837" y="3175442"/>
              <a:ext cx="0" cy="266042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97577906-50FF-FB2C-0FD5-1D97232D688C}"/>
                </a:ext>
              </a:extLst>
            </p:cNvPr>
            <p:cNvCxnSpPr>
              <a:cxnSpLocks/>
            </p:cNvCxnSpPr>
            <p:nvPr/>
          </p:nvCxnSpPr>
          <p:spPr>
            <a:xfrm>
              <a:off x="8405676" y="3162958"/>
              <a:ext cx="0" cy="266042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F4BEFA5-2F26-62F5-A18E-1CE471C26750}"/>
                </a:ext>
              </a:extLst>
            </p:cNvPr>
            <p:cNvCxnSpPr>
              <a:cxnSpLocks/>
            </p:cNvCxnSpPr>
            <p:nvPr/>
          </p:nvCxnSpPr>
          <p:spPr>
            <a:xfrm>
              <a:off x="8209837" y="3178477"/>
              <a:ext cx="195839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1B87F185-8913-7850-9175-01D8D8A53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994" y="2937836"/>
              <a:ext cx="0" cy="2660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22BDC193-79C5-2057-65D5-FC533D38E6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9075" y="3194744"/>
              <a:ext cx="195839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E08BF35B-70F3-A77B-147C-013C13C85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0894" y="3162958"/>
              <a:ext cx="0" cy="266042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CEE43CDD-45E6-EF36-CD03-8B601B9C45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8390" y="3175442"/>
              <a:ext cx="0" cy="266042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257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F66DB-E0F0-2029-516A-233C88F7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Inferencia del potencial metabólico usando amplicones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D4CF46-D47A-6C35-9F86-941196328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Filogenia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F0AE110-6A53-9587-9F61-391A8EB685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9875" t="18222" r="10201"/>
          <a:stretch>
            <a:fillRect/>
          </a:stretch>
        </p:blipFill>
        <p:spPr>
          <a:xfrm>
            <a:off x="1207906" y="2740819"/>
            <a:ext cx="4789669" cy="318293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5A1C0B-FA62-1336-F9F8-44CF19B4F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_tradnl" dirty="0"/>
              <a:t>Taxonomía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2D7473-1471-928D-A75C-C5E1FF1C7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60198" y="2505075"/>
            <a:ext cx="4395190" cy="3684588"/>
          </a:xfrm>
        </p:spPr>
        <p:txBody>
          <a:bodyPr/>
          <a:lstStyle/>
          <a:p>
            <a:endParaRPr lang="es-ES_tradnl" dirty="0"/>
          </a:p>
          <a:p>
            <a:r>
              <a:rPr lang="es-ES_tradnl" sz="2400" dirty="0"/>
              <a:t>Asumen que organismos relacionados tienen genomas/funciones similares</a:t>
            </a:r>
          </a:p>
          <a:p>
            <a:pPr marL="0" indent="0">
              <a:buNone/>
            </a:pPr>
            <a:endParaRPr lang="es-ES_tradnl" sz="2400" dirty="0"/>
          </a:p>
          <a:p>
            <a:pPr lvl="1"/>
            <a:r>
              <a:rPr lang="es-ES_tradnl" sz="2000" dirty="0"/>
              <a:t>Tax4Fun (Perfiles KEGG)</a:t>
            </a:r>
          </a:p>
          <a:p>
            <a:pPr lvl="1"/>
            <a:r>
              <a:rPr lang="es-ES_tradnl" sz="2000" dirty="0" err="1"/>
              <a:t>FunGuild</a:t>
            </a:r>
            <a:r>
              <a:rPr lang="es-ES_tradnl" sz="2000" dirty="0"/>
              <a:t> (Grupos ecológicos)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493DB5-BA53-BE50-2713-2315D0739899}"/>
              </a:ext>
            </a:extLst>
          </p:cNvPr>
          <p:cNvSpPr txBox="1"/>
          <p:nvPr/>
        </p:nvSpPr>
        <p:spPr>
          <a:xfrm>
            <a:off x="1620146" y="6004997"/>
            <a:ext cx="396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Perfiles funcionales (KEGG / </a:t>
            </a:r>
            <a:r>
              <a:rPr lang="es-ES_tradnl" dirty="0" err="1"/>
              <a:t>MetaCyc</a:t>
            </a:r>
            <a:r>
              <a:rPr lang="es-ES_trad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993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1652</Words>
  <Application>Microsoft Macintosh PowerPoint</Application>
  <PresentationFormat>Panorámica</PresentationFormat>
  <Paragraphs>258</Paragraphs>
  <Slides>16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Helvetica</vt:lpstr>
      <vt:lpstr>Tema de Office</vt:lpstr>
      <vt:lpstr>Día 3: Análisis de datos de amplicones del gen 16S</vt:lpstr>
      <vt:lpstr>¿Qué es y cuál es la importancia del microbioma?</vt:lpstr>
      <vt:lpstr>¿Cómo estudiamos el microbioma?</vt:lpstr>
      <vt:lpstr>¿Cómo interpretamos los datos de secuenciación?</vt:lpstr>
      <vt:lpstr>¿Cómo funciona Qiime2?</vt:lpstr>
      <vt:lpstr>Características de un comando de Qiime2</vt:lpstr>
      <vt:lpstr>Tipos de archivos en Qiime2</vt:lpstr>
      <vt:lpstr>Flujo de trabajo para el análisis de datos de secuenciación de microbiomas (amplicones)</vt:lpstr>
      <vt:lpstr>Flujo de trabajo para el análisis de datos de secuenciación de microbiomas (amplicones)</vt:lpstr>
      <vt:lpstr>Inferencia de variantes de secuencias vs agrupamiento de secuencias</vt:lpstr>
      <vt:lpstr>Inferencia de variantes de secuencias vs agrupamiento de secuencias</vt:lpstr>
      <vt:lpstr>Clasificación taxonómica</vt:lpstr>
      <vt:lpstr>¿Cómo describir la diversidad? </vt:lpstr>
      <vt:lpstr>Análisis de diversidad: Alfa diversidad</vt:lpstr>
      <vt:lpstr>Análisis de diversidad: Beta diversidad</vt:lpstr>
      <vt:lpstr>Inferencia del potencial metabólico usando amplicones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 MARTINEZ UGALDE</dc:creator>
  <cp:lastModifiedBy>EMANUEL MARTINEZ UGALDE</cp:lastModifiedBy>
  <cp:revision>1</cp:revision>
  <dcterms:created xsi:type="dcterms:W3CDTF">2026-05-12T22:05:23Z</dcterms:created>
  <dcterms:modified xsi:type="dcterms:W3CDTF">2026-05-12T22:29:35Z</dcterms:modified>
</cp:coreProperties>
</file>