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8" r:id="rId3"/>
    <p:sldId id="27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8"/>
    <p:restoredTop sz="94643"/>
  </p:normalViewPr>
  <p:slideViewPr>
    <p:cSldViewPr snapToGrid="0">
      <p:cViewPr varScale="1">
        <p:scale>
          <a:sx n="91" d="100"/>
          <a:sy n="91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33B5D-4E37-594B-9439-DDECAD0E539C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97238-F12C-B242-9063-F90B3E881B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63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C98B-6DCF-9115-A9FE-757EA3B27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CA88F-1BAF-44A4-9F31-AACC478E5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5AAF-E6BB-71D2-EFAA-D8022C178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7D07-060E-5F40-96EA-9B43AC96E304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B99D6-3DA4-1603-4C62-D07C02A1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36CD4-34CD-F5A8-E83B-0D39B182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32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FDF0-22A6-2062-2032-AB758697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3E04-A240-C0EB-25CA-EBE02A43A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209C5-40B3-AC92-921F-1E5066DA5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982F-FCF0-284A-899D-52188CB6530C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4F86A-0ECE-667B-F550-805CEFA4A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2DE13-80AE-41D7-D023-9AC465F6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28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132D-DC21-D306-3F89-41EA49466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32135-0112-164F-11E8-51B6642C7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0DE53-063D-F73C-007F-27FC928F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5451-E1F9-3F4E-B187-136B80ABC0FA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4454-4139-601C-44A4-6D780A57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03C40-8701-CF78-A8B3-DA8C741B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1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979A-C854-53C7-CBE2-53B5AD45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61EA-4486-9D4F-03C5-6A59C061F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D05D0-1A01-0C78-4EAA-230B53AB5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29351-93F5-4C9F-C741-15532B75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F084F-1618-7546-A5C4-905B413DA0E6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627F0-7E4C-B17C-3980-DAB3A39D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AD495-E22A-47DD-3C55-35439FC4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77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2F50-ABBD-C7D0-0F88-722A5DB7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C0A2D-ED76-D877-1CDA-683C346A3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D395D-9EED-248F-F841-3CC96760F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5BA0E-7820-737D-8497-194896B2F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300AB-7CA6-FE1F-6E57-4379A5637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52C93-8896-DC95-F666-AA565DFC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EF4EA-499D-2F45-B287-DF80A5F715B0}" type="datetime1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437C3-6A53-F712-57E3-F068AB04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3F0C2-A5D0-D7DD-75A2-00269382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13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3B0ED-41C0-1C94-5ECE-D7784A6A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CCD1A-B9B5-58BB-A3A4-6B7674D0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9193F-172C-FB44-AB8F-58F79B2E7135}" type="datetime1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FEF3A-D946-1C03-25F4-3BC4F034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FB3CA-6D82-1E81-247E-CBE3ADE8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20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A36AD-72AC-FF39-A755-6F38AE30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2FD4-D34A-5842-81BC-ABBB3F495AEF}" type="datetime1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6ADCF-AA63-258E-9F33-42992832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8CE7-D6E1-0B0B-ECEF-7A9678C8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66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A54AE-2875-07D8-3794-6BA028C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6F0DF-1614-04B0-1D84-468C2F0F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1FAE4-32D9-72F6-AA43-B185E5225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EF952-E33E-0CB5-02B1-C15A43FC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1D6C-085C-9045-A84A-5EC8DAFE63D9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B0E4-8518-4F35-58D1-73509B9D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F8678-A353-F10D-5ED3-404C3186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87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4396-8D7C-A7A9-44A4-FA11FC3B8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BD7D8-3542-9B2B-1BFC-0F293A6FA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A348A-AF37-FA41-CEC2-48CC47D2B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34F64-2ADA-EF92-E092-2FB30E03B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F1232-00B5-A242-B14C-D23CA8BD2852}" type="datetime1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D57EF-8DEC-F276-4CC1-A4D47AA3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B0424-8369-B288-B134-15C543C8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4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722A-F92B-3178-E902-574E237A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CDC38-7030-210E-EE95-6168E9EBF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81F71-5335-1BC9-240F-476E628E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9855B-DCCC-6644-A09D-8CCC338B7F93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7426-B2C4-40FA-686D-884C2670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B665-9960-3C4E-3B71-468BD501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8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B8B83-C873-5714-4DCA-728C69AC6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9E817-59D9-3C41-A08B-341E6AB48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F7852-FB38-83D1-A627-EA7582C2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9CFE1-964A-7C41-8B58-6E63B009CDAB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DA56-F5F9-3399-7F92-16D6E20A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423F-50D1-4B4F-DA64-079508D5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E243A6-5222-1080-9C94-77338A03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1FCED-1B9A-5D56-63A0-E284E86A7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91D4B-55C8-1C2C-D840-5480C6332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A9E57-A440-984E-9C75-6C9853CCC18B}" type="datetime1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1C121-9660-F597-DA8F-BE3A32014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416C-ECBE-9313-FA65-F1EAC0276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D3D56-47D1-224F-8371-B02632F70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5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?hl=es-419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jupyter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hyperlink" Target="art-your-journey/about-github-and-git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github.com/hector-ahg/predictive-microbiology-cours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1931-5AC2-B8CA-A2F2-B5679E720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5877"/>
            <a:ext cx="9144000" cy="2028463"/>
          </a:xfrm>
        </p:spPr>
        <p:txBody>
          <a:bodyPr>
            <a:noAutofit/>
          </a:bodyPr>
          <a:lstStyle/>
          <a:p>
            <a:r>
              <a:rPr lang="es-ES_tradnl" sz="4400" b="1" dirty="0"/>
              <a:t>Taller de Microbiología Predictiva con Python: del análisis de microbiomas a modelos para investigación</a:t>
            </a:r>
            <a:endParaRPr lang="es-ES_tradnl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6116E-2316-CAD5-123F-790C25063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45283"/>
            <a:ext cx="9144000" cy="992530"/>
          </a:xfrm>
        </p:spPr>
        <p:txBody>
          <a:bodyPr>
            <a:normAutofit/>
          </a:bodyPr>
          <a:lstStyle/>
          <a:p>
            <a:r>
              <a:rPr lang="es-ES_tradnl" dirty="0"/>
              <a:t>Héctor A. Hernández González</a:t>
            </a:r>
          </a:p>
          <a:p>
            <a:r>
              <a:rPr lang="es-ES_tradnl" dirty="0"/>
              <a:t>11 de Mayo, 2026</a:t>
            </a:r>
          </a:p>
          <a:p>
            <a:endParaRPr lang="es-ES_tradnl" dirty="0"/>
          </a:p>
          <a:p>
            <a:endParaRPr lang="es-ES_trad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79C91-BD22-5AFF-15DF-6560AC9875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02" b="35983"/>
          <a:stretch>
            <a:fillRect/>
          </a:stretch>
        </p:blipFill>
        <p:spPr bwMode="auto">
          <a:xfrm>
            <a:off x="1786536" y="336932"/>
            <a:ext cx="8618927" cy="17509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A755C-D64B-2CF9-6049-E0FDB764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98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6A3E3-E6E8-E492-BCC7-9EA20DDA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C60A-9F3B-F978-00CC-6DC79739B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Estructura del curso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500AD8-1DD6-CA95-FAC2-EBB9F20F0E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841245"/>
              </p:ext>
            </p:extLst>
          </p:nvPr>
        </p:nvGraphicFramePr>
        <p:xfrm>
          <a:off x="1629136" y="1845310"/>
          <a:ext cx="8933727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7834">
                  <a:extLst>
                    <a:ext uri="{9D8B030D-6E8A-4147-A177-3AD203B41FA5}">
                      <a16:colId xmlns:a16="http://schemas.microsoft.com/office/drawing/2014/main" val="4152302285"/>
                    </a:ext>
                  </a:extLst>
                </a:gridCol>
                <a:gridCol w="6495893">
                  <a:extLst>
                    <a:ext uri="{9D8B030D-6E8A-4147-A177-3AD203B41FA5}">
                      <a16:colId xmlns:a16="http://schemas.microsoft.com/office/drawing/2014/main" val="15816255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endParaRPr lang="es-ES_tradnl" sz="2200" dirty="0"/>
                    </a:p>
                    <a:p>
                      <a:endParaRPr lang="es-ES_tradnl" sz="2200" dirty="0"/>
                    </a:p>
                    <a:p>
                      <a:r>
                        <a:rPr lang="es-ES_tradnl" sz="2200" b="0" dirty="0">
                          <a:solidFill>
                            <a:srgbClr val="0070C0"/>
                          </a:solidFill>
                        </a:rPr>
                        <a:t>Semana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2200" b="0" dirty="0">
                          <a:solidFill>
                            <a:srgbClr val="0070C0"/>
                          </a:solidFill>
                        </a:rPr>
                        <a:t>Presentación del curso y proyecto inicial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59743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rgbClr val="0070C0"/>
                          </a:solidFill>
                        </a:rPr>
                        <a:t>Introducción a Python para microbiología</a:t>
                      </a: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2565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rgbClr val="0070C0"/>
                          </a:solidFill>
                        </a:rPr>
                        <a:t>Análisis metagenómico con QIIME2 y PICRUSt2</a:t>
                      </a:r>
                    </a:p>
                    <a:p>
                      <a:endParaRPr lang="es-ES_tradnl" sz="220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740307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endParaRPr lang="es-ES_tradnl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chemeClr val="accent6"/>
                          </a:solidFill>
                        </a:rPr>
                        <a:t>Semana 2</a:t>
                      </a:r>
                    </a:p>
                    <a:p>
                      <a:endParaRPr lang="es-ES_tradnl" sz="2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chemeClr val="accent6"/>
                          </a:solidFill>
                        </a:rPr>
                        <a:t>Integración y exploración de datos en Python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36136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chemeClr val="accent6"/>
                          </a:solidFill>
                        </a:rPr>
                        <a:t>Introducción a machine </a:t>
                      </a:r>
                      <a:r>
                        <a:rPr lang="es-ES_tradnl" sz="2200" dirty="0" err="1">
                          <a:solidFill>
                            <a:schemeClr val="accent6"/>
                          </a:solidFill>
                        </a:rPr>
                        <a:t>learning</a:t>
                      </a:r>
                      <a:endParaRPr lang="es-ES_tradnl" sz="2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95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2200" dirty="0">
                          <a:solidFill>
                            <a:schemeClr val="accent6"/>
                          </a:solidFill>
                        </a:rPr>
                        <a:t>Modelos predictivos en microbiota</a:t>
                      </a:r>
                    </a:p>
                    <a:p>
                      <a:endParaRPr lang="es-ES_tradnl" sz="2200" dirty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87895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endParaRPr lang="es-ES_tradnl" sz="2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2200" dirty="0">
                          <a:solidFill>
                            <a:schemeClr val="accent2"/>
                          </a:solidFill>
                        </a:rPr>
                        <a:t>Semana 3</a:t>
                      </a:r>
                    </a:p>
                    <a:p>
                      <a:endParaRPr lang="es-ES_tradnl" sz="2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_tradnl" sz="2200" dirty="0">
                          <a:solidFill>
                            <a:schemeClr val="accent2"/>
                          </a:solidFill>
                        </a:rPr>
                        <a:t>Desarrollo de proyecto final (parte 1)</a:t>
                      </a:r>
                      <a:endParaRPr lang="es-ES_tradnl" sz="2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680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2200" dirty="0">
                          <a:solidFill>
                            <a:schemeClr val="accent2"/>
                          </a:solidFill>
                        </a:rPr>
                        <a:t>Desarrollo de proyecto final (parte 2)</a:t>
                      </a:r>
                      <a:endParaRPr lang="es-ES_tradnl" sz="2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134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2200" dirty="0">
                          <a:solidFill>
                            <a:schemeClr val="accent2"/>
                          </a:solidFill>
                        </a:rPr>
                        <a:t>Presentación de resultados</a:t>
                      </a:r>
                      <a:endParaRPr lang="es-ES_tradnl" sz="2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15198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C575E-A6A8-5EA8-1F37-F29A891DE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s-ES_tradnl" smtClean="0"/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363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749E-1715-A9CA-5A73-0257A1F9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C0EB-D184-F7F5-79C2-CBB57ACB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Flujo de trabajo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5AD9B-C455-D89A-19A3-7F3776F44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352" y="3886004"/>
            <a:ext cx="1385709" cy="16065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C0CE6D-0677-1EB6-5F9E-22B38393E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342" y="4194451"/>
            <a:ext cx="1831359" cy="10459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7BD2EB-2C61-6E2C-1FB7-EF5F15F37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054" y="3886004"/>
            <a:ext cx="1662804" cy="1662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88BB25-90EE-FCD2-2F7E-198329EF6E10}"/>
              </a:ext>
            </a:extLst>
          </p:cNvPr>
          <p:cNvSpPr txBox="1"/>
          <p:nvPr/>
        </p:nvSpPr>
        <p:spPr>
          <a:xfrm>
            <a:off x="1156736" y="5745748"/>
            <a:ext cx="243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hlinkClick r:id="rId5"/>
              </a:rPr>
              <a:t>Acerca de GitHub y Git</a:t>
            </a:r>
            <a:endParaRPr lang="es-ES_tradnl" dirty="0"/>
          </a:p>
        </p:txBody>
      </p:sp>
      <p:pic>
        <p:nvPicPr>
          <p:cNvPr id="9" name="Graphic 8" descr="Arrow Right with solid fill">
            <a:extLst>
              <a:ext uri="{FF2B5EF4-FFF2-40B4-BE49-F238E27FC236}">
                <a16:creationId xmlns:a16="http://schemas.microsoft.com/office/drawing/2014/main" id="{E242DDCE-120D-7C00-DB59-E9018782F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0107" y="4325961"/>
            <a:ext cx="914400" cy="914400"/>
          </a:xfrm>
          <a:prstGeom prst="rect">
            <a:avLst/>
          </a:prstGeom>
        </p:spPr>
      </p:pic>
      <p:pic>
        <p:nvPicPr>
          <p:cNvPr id="10" name="Graphic 9" descr="Arrow Right with solid fill">
            <a:extLst>
              <a:ext uri="{FF2B5EF4-FFF2-40B4-BE49-F238E27FC236}">
                <a16:creationId xmlns:a16="http://schemas.microsoft.com/office/drawing/2014/main" id="{66096A85-A296-9D9B-7EA9-FE06D2070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1310" y="432596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F9555E-D565-FA37-C5CE-140DA5D166B6}"/>
              </a:ext>
            </a:extLst>
          </p:cNvPr>
          <p:cNvSpPr txBox="1"/>
          <p:nvPr/>
        </p:nvSpPr>
        <p:spPr>
          <a:xfrm>
            <a:off x="5247738" y="5745748"/>
            <a:ext cx="1936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hlinkClick r:id="rId7"/>
              </a:rPr>
              <a:t>Acerca de Jupyter</a:t>
            </a:r>
            <a:endParaRPr lang="es-ES_tradn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FE6FAF-879B-5D4B-F006-6801EBEEEF2E}"/>
              </a:ext>
            </a:extLst>
          </p:cNvPr>
          <p:cNvSpPr txBox="1"/>
          <p:nvPr/>
        </p:nvSpPr>
        <p:spPr>
          <a:xfrm>
            <a:off x="8748481" y="5745748"/>
            <a:ext cx="258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hlinkClick r:id="rId8"/>
              </a:rPr>
              <a:t>Acerca de Google Colab</a:t>
            </a:r>
            <a:endParaRPr lang="es-ES_trad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A3FB3-AB62-3104-7A4E-8536B63802DA}"/>
              </a:ext>
            </a:extLst>
          </p:cNvPr>
          <p:cNvSpPr txBox="1"/>
          <p:nvPr/>
        </p:nvSpPr>
        <p:spPr>
          <a:xfrm>
            <a:off x="1015789" y="2089354"/>
            <a:ext cx="2741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Documentos del curso disponibles en GitHub:</a:t>
            </a:r>
          </a:p>
          <a:p>
            <a:pPr algn="ctr"/>
            <a:r>
              <a:rPr lang="es-ES_tradnl" dirty="0">
                <a:hlinkClick r:id="rId9"/>
              </a:rPr>
              <a:t>https://github.com/hector-ahg/predictive-microbiology-course</a:t>
            </a:r>
            <a:r>
              <a:rPr lang="es-ES_tradnl" dirty="0"/>
              <a:t> </a:t>
            </a:r>
          </a:p>
          <a:p>
            <a:pPr algn="ctr"/>
            <a:endParaRPr lang="es-ES_trad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AC77FC-E142-37FE-7E72-EBBDF5F0A7D6}"/>
              </a:ext>
            </a:extLst>
          </p:cNvPr>
          <p:cNvSpPr txBox="1"/>
          <p:nvPr/>
        </p:nvSpPr>
        <p:spPr>
          <a:xfrm>
            <a:off x="4725095" y="2135521"/>
            <a:ext cx="2741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El código se encuentra en </a:t>
            </a:r>
            <a:r>
              <a:rPr lang="es-ES_tradnl" dirty="0" err="1"/>
              <a:t>Jupyter</a:t>
            </a:r>
            <a:r>
              <a:rPr lang="es-ES_tradnl" dirty="0"/>
              <a:t> Notebooks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7F21E6-73B3-F7D0-4725-124696EF032C}"/>
              </a:ext>
            </a:extLst>
          </p:cNvPr>
          <p:cNvSpPr txBox="1"/>
          <p:nvPr/>
        </p:nvSpPr>
        <p:spPr>
          <a:xfrm>
            <a:off x="8434401" y="2089354"/>
            <a:ext cx="2897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Ejecutaremos el código en Google </a:t>
            </a:r>
            <a:r>
              <a:rPr lang="es-ES_tradnl" dirty="0" err="1"/>
              <a:t>Colab</a:t>
            </a:r>
            <a:r>
              <a:rPr lang="es-ES_tradnl" dirty="0"/>
              <a:t> (un servidor remoto)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317C9DC-DF6A-A4C9-782E-793ABEDA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s-ES_tradnl" smtClean="0"/>
              <a:t>3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94444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E5A1-A511-D2B0-5FF6-4DDA5EA2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Proyecto 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7ABEE-ECCF-80DE-5313-104A0C9E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Requisito para certificado al final del curso</a:t>
            </a:r>
          </a:p>
          <a:p>
            <a:endParaRPr lang="es-ES_tradnl" dirty="0"/>
          </a:p>
          <a:p>
            <a:r>
              <a:rPr lang="es-ES_tradnl" dirty="0"/>
              <a:t>Opción 1: Datos propios</a:t>
            </a:r>
          </a:p>
          <a:p>
            <a:r>
              <a:rPr lang="es-ES_tradnl" dirty="0"/>
              <a:t>Opción 2: Datos proporcionados (digestores anaerobios, planta de tratamiento de agua, intestino humano)</a:t>
            </a:r>
          </a:p>
          <a:p>
            <a:endParaRPr lang="es-ES_tradnl" dirty="0"/>
          </a:p>
          <a:p>
            <a:pPr marL="0" indent="0">
              <a:buNone/>
            </a:pPr>
            <a:r>
              <a:rPr lang="es-ES_tradnl" dirty="0"/>
              <a:t>*Los datos deben tener metadatos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D808-E4F6-30C9-2068-7DF79543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D3D56-47D1-224F-8371-B02632F70408}" type="slidenum">
              <a:rPr lang="es-ES_tradnl" smtClean="0"/>
              <a:t>4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48185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</TotalTime>
  <Words>176</Words>
  <Application>Microsoft Macintosh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Taller de Microbiología Predictiva con Python: del análisis de microbiomas a modelos para investigación</vt:lpstr>
      <vt:lpstr>Estructura del curso </vt:lpstr>
      <vt:lpstr>Flujo de trabajo</vt:lpstr>
      <vt:lpstr>Proyecto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hector hernandez</dc:creator>
  <cp:lastModifiedBy>hector hernandez</cp:lastModifiedBy>
  <cp:revision>146</cp:revision>
  <dcterms:created xsi:type="dcterms:W3CDTF">2026-05-09T21:05:04Z</dcterms:created>
  <dcterms:modified xsi:type="dcterms:W3CDTF">2026-05-13T03:35:10Z</dcterms:modified>
</cp:coreProperties>
</file>